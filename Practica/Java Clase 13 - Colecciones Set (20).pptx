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71" r:id="rId3"/>
    <p:sldId id="290" r:id="rId4"/>
    <p:sldId id="280" r:id="rId5"/>
    <p:sldId id="286" r:id="rId6"/>
    <p:sldId id="281" r:id="rId7"/>
    <p:sldId id="273" r:id="rId8"/>
    <p:sldId id="287" r:id="rId9"/>
    <p:sldId id="267" r:id="rId10"/>
    <p:sldId id="282" r:id="rId11"/>
    <p:sldId id="277" r:id="rId12"/>
    <p:sldId id="268" r:id="rId13"/>
    <p:sldId id="284" r:id="rId14"/>
    <p:sldId id="275" r:id="rId15"/>
    <p:sldId id="289" r:id="rId16"/>
    <p:sldId id="279" r:id="rId17"/>
    <p:sldId id="285" r:id="rId18"/>
    <p:sldId id="288" r:id="rId19"/>
    <p:sldId id="283" r:id="rId20"/>
    <p:sldId id="293"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Montserrat" pitchFamily="2"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FFCC"/>
    <a:srgbClr val="FF66CC"/>
    <a:srgbClr val="FF6F0D"/>
    <a:srgbClr val="EE90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56"/>
    <p:restoredTop sz="94162" autoAdjust="0"/>
  </p:normalViewPr>
  <p:slideViewPr>
    <p:cSldViewPr snapToGrid="0">
      <p:cViewPr varScale="1">
        <p:scale>
          <a:sx n="159" d="100"/>
          <a:sy n="159" d="100"/>
        </p:scale>
        <p:origin x="616"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dc5699acb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dc5699acb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6879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F1FAC424-A7A4-03F3-6E5B-455265D5C3AE}"/>
            </a:ext>
          </a:extLst>
        </p:cNvPr>
        <p:cNvGrpSpPr/>
        <p:nvPr/>
      </p:nvGrpSpPr>
      <p:grpSpPr>
        <a:xfrm>
          <a:off x="0" y="0"/>
          <a:ext cx="0" cy="0"/>
          <a:chOff x="0" y="0"/>
          <a:chExt cx="0" cy="0"/>
        </a:xfrm>
      </p:grpSpPr>
      <p:sp>
        <p:nvSpPr>
          <p:cNvPr id="199" name="Google Shape;199;g1dfb8c7e502_0_39:notes">
            <a:extLst>
              <a:ext uri="{FF2B5EF4-FFF2-40B4-BE49-F238E27FC236}">
                <a16:creationId xmlns:a16="http://schemas.microsoft.com/office/drawing/2014/main" id="{93C38711-DB5C-B2AE-608A-592DC2F3A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a:extLst>
              <a:ext uri="{FF2B5EF4-FFF2-40B4-BE49-F238E27FC236}">
                <a16:creationId xmlns:a16="http://schemas.microsoft.com/office/drawing/2014/main" id="{78CC245B-2C02-A833-2136-1E6C60915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9534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3591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3889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3902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0952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dfb8c7e5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dfb8c7e50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384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55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4322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dfb8c7e502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dfb8c7e502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4493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497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299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9665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135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7355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dfb8c7e502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dfb8c7e502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9925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dfb8c7e502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dfb8c7e502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9454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3"/>
        <p:cNvGrpSpPr/>
        <p:nvPr/>
      </p:nvGrpSpPr>
      <p:grpSpPr>
        <a:xfrm>
          <a:off x="0" y="0"/>
          <a:ext cx="0" cy="0"/>
          <a:chOff x="0" y="0"/>
          <a:chExt cx="0" cy="0"/>
        </a:xfrm>
      </p:grpSpPr>
      <p:pic>
        <p:nvPicPr>
          <p:cNvPr id="134" name="Google Shape;134;p13"/>
          <p:cNvPicPr preferRelativeResize="0"/>
          <p:nvPr/>
        </p:nvPicPr>
        <p:blipFill>
          <a:blip r:embed="rId3">
            <a:alphaModFix/>
          </a:blip>
          <a:stretch>
            <a:fillRect/>
          </a:stretch>
        </p:blipFill>
        <p:spPr>
          <a:xfrm>
            <a:off x="3997233" y="4379616"/>
            <a:ext cx="1872109" cy="536794"/>
          </a:xfrm>
          <a:prstGeom prst="rect">
            <a:avLst/>
          </a:prstGeom>
          <a:noFill/>
          <a:ln>
            <a:noFill/>
          </a:ln>
          <a:effectLst>
            <a:reflection endPos="30000" dist="38100" dir="5400000" fadeDir="5400012" sy="-100000" algn="bl" rotWithShape="0"/>
          </a:effectLst>
        </p:spPr>
      </p:pic>
      <p:pic>
        <p:nvPicPr>
          <p:cNvPr id="135" name="Google Shape;135;p13"/>
          <p:cNvPicPr preferRelativeResize="0"/>
          <p:nvPr/>
        </p:nvPicPr>
        <p:blipFill>
          <a:blip r:embed="rId4">
            <a:alphaModFix/>
          </a:blip>
          <a:stretch>
            <a:fillRect/>
          </a:stretch>
        </p:blipFill>
        <p:spPr>
          <a:xfrm>
            <a:off x="5541300" y="227090"/>
            <a:ext cx="3488425" cy="3488425"/>
          </a:xfrm>
          <a:prstGeom prst="rect">
            <a:avLst/>
          </a:prstGeom>
          <a:noFill/>
          <a:ln>
            <a:noFill/>
          </a:ln>
        </p:spPr>
      </p:pic>
      <p:sp>
        <p:nvSpPr>
          <p:cNvPr id="136" name="Google Shape;136;p13"/>
          <p:cNvSpPr txBox="1">
            <a:spLocks noGrp="1"/>
          </p:cNvSpPr>
          <p:nvPr>
            <p:ph type="title" idx="4294967295"/>
          </p:nvPr>
        </p:nvSpPr>
        <p:spPr>
          <a:xfrm>
            <a:off x="371200" y="667700"/>
            <a:ext cx="4977900" cy="11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419" sz="3000"/>
              <a:t>Programación II</a:t>
            </a:r>
            <a:br>
              <a:rPr lang="es-419" sz="3000"/>
            </a:br>
            <a:r>
              <a:rPr lang="es-419" sz="3000"/>
              <a:t>Desarrollo en Java</a:t>
            </a:r>
            <a:endParaRPr sz="3000"/>
          </a:p>
        </p:txBody>
      </p:sp>
      <p:sp>
        <p:nvSpPr>
          <p:cNvPr id="137" name="Google Shape;137;p13"/>
          <p:cNvSpPr txBox="1"/>
          <p:nvPr/>
        </p:nvSpPr>
        <p:spPr>
          <a:xfrm>
            <a:off x="439888" y="2480501"/>
            <a:ext cx="5282700"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2400" b="1" u="sng" dirty="0">
                <a:solidFill>
                  <a:srgbClr val="FF6F0D"/>
                </a:solidFill>
                <a:latin typeface="Lato"/>
                <a:ea typeface="Lato"/>
                <a:cs typeface="Lato"/>
                <a:sym typeface="Lato"/>
              </a:rPr>
              <a:t>Clase N° 13:</a:t>
            </a:r>
          </a:p>
          <a:p>
            <a:pPr marL="0" lvl="0" indent="0" algn="l" rtl="0">
              <a:spcBef>
                <a:spcPts val="0"/>
              </a:spcBef>
              <a:spcAft>
                <a:spcPts val="0"/>
              </a:spcAft>
              <a:buNone/>
            </a:pPr>
            <a:endParaRPr sz="800" b="1" u="sng" dirty="0">
              <a:solidFill>
                <a:srgbClr val="FF6F0D"/>
              </a:solidFill>
              <a:latin typeface="Lato"/>
              <a:ea typeface="Lato"/>
              <a:cs typeface="Lato"/>
              <a:sym typeface="Lato"/>
            </a:endParaRPr>
          </a:p>
          <a:p>
            <a:pPr marL="0" lvl="0" indent="0" algn="l" rtl="0">
              <a:spcBef>
                <a:spcPts val="0"/>
              </a:spcBef>
              <a:spcAft>
                <a:spcPts val="0"/>
              </a:spcAft>
              <a:buNone/>
            </a:pPr>
            <a:r>
              <a:rPr lang="es-419" sz="2400" b="1" dirty="0">
                <a:solidFill>
                  <a:srgbClr val="FF6F0D"/>
                </a:solidFill>
                <a:latin typeface="Lato"/>
                <a:ea typeface="Lato"/>
                <a:cs typeface="Lato"/>
                <a:sym typeface="Lato"/>
              </a:rPr>
              <a:t>Colecciones de tipo Set.</a:t>
            </a:r>
            <a:endParaRPr sz="2400" b="1" dirty="0">
              <a:solidFill>
                <a:srgbClr val="FF6F0D"/>
              </a:solidFill>
              <a:latin typeface="Lato"/>
              <a:ea typeface="Lato"/>
              <a:cs typeface="Lato"/>
              <a:sym typeface="Lato"/>
            </a:endParaRPr>
          </a:p>
        </p:txBody>
      </p:sp>
      <p:sp>
        <p:nvSpPr>
          <p:cNvPr id="2" name="Google Shape;137;p13">
            <a:extLst>
              <a:ext uri="{FF2B5EF4-FFF2-40B4-BE49-F238E27FC236}">
                <a16:creationId xmlns:a16="http://schemas.microsoft.com/office/drawing/2014/main" id="{1ADD7E3B-4122-C030-0FBB-B46863B93D0B}"/>
              </a:ext>
            </a:extLst>
          </p:cNvPr>
          <p:cNvSpPr txBox="1"/>
          <p:nvPr/>
        </p:nvSpPr>
        <p:spPr>
          <a:xfrm>
            <a:off x="439888" y="3929785"/>
            <a:ext cx="79005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1800" dirty="0">
                <a:solidFill>
                  <a:srgbClr val="FFFF00"/>
                </a:solidFill>
                <a:latin typeface="Lato"/>
                <a:ea typeface="Lato"/>
                <a:cs typeface="Lato"/>
                <a:sym typeface="Lato"/>
              </a:rPr>
              <a:t>Docente Carolina Archuby.</a:t>
            </a:r>
            <a:endParaRPr sz="1800" dirty="0">
              <a:solidFill>
                <a:srgbClr val="FFFF00"/>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484094" y="127333"/>
            <a:ext cx="7951693"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4400" b="1" u="sng" dirty="0">
                <a:solidFill>
                  <a:srgbClr val="FF6F0D"/>
                </a:solidFill>
                <a:latin typeface="Lato"/>
                <a:ea typeface="Lato"/>
                <a:cs typeface="Lato"/>
                <a:sym typeface="Lato"/>
              </a:rPr>
              <a:t>INTERFAZ SET </a:t>
            </a:r>
            <a:r>
              <a:rPr lang="es-419" sz="4400" dirty="0">
                <a:solidFill>
                  <a:srgbClr val="FF6F0D"/>
                </a:solidFill>
                <a:latin typeface="Lato"/>
                <a:ea typeface="Lato"/>
                <a:cs typeface="Lato"/>
                <a:sym typeface="Lato"/>
              </a:rPr>
              <a:t>(conjuntos)</a:t>
            </a:r>
            <a:endParaRPr sz="4400" dirty="0">
              <a:solidFill>
                <a:srgbClr val="FF6F0D"/>
              </a:solidFill>
              <a:latin typeface="Lato"/>
              <a:ea typeface="Lato"/>
              <a:cs typeface="Lato"/>
              <a:sym typeface="Lato"/>
            </a:endParaRPr>
          </a:p>
        </p:txBody>
      </p:sp>
      <p:pic>
        <p:nvPicPr>
          <p:cNvPr id="2" name="Imagen 1">
            <a:extLst>
              <a:ext uri="{FF2B5EF4-FFF2-40B4-BE49-F238E27FC236}">
                <a16:creationId xmlns:a16="http://schemas.microsoft.com/office/drawing/2014/main" id="{59A1F4F6-B2B1-6840-E1F3-B8D85D63BF04}"/>
              </a:ext>
            </a:extLst>
          </p:cNvPr>
          <p:cNvPicPr>
            <a:picLocks noChangeAspect="1"/>
          </p:cNvPicPr>
          <p:nvPr/>
        </p:nvPicPr>
        <p:blipFill>
          <a:blip r:embed="rId3"/>
          <a:stretch>
            <a:fillRect/>
          </a:stretch>
        </p:blipFill>
        <p:spPr>
          <a:xfrm>
            <a:off x="1193595" y="1123236"/>
            <a:ext cx="6496832" cy="3892931"/>
          </a:xfrm>
          <a:prstGeom prst="rect">
            <a:avLst/>
          </a:prstGeom>
        </p:spPr>
      </p:pic>
      <p:sp>
        <p:nvSpPr>
          <p:cNvPr id="3" name="Flecha derecha 2">
            <a:extLst>
              <a:ext uri="{FF2B5EF4-FFF2-40B4-BE49-F238E27FC236}">
                <a16:creationId xmlns:a16="http://schemas.microsoft.com/office/drawing/2014/main" id="{94F258E5-ACB9-E6AC-CFEC-9D82247676FF}"/>
              </a:ext>
            </a:extLst>
          </p:cNvPr>
          <p:cNvSpPr/>
          <p:nvPr/>
        </p:nvSpPr>
        <p:spPr>
          <a:xfrm flipH="1">
            <a:off x="6364680" y="2386876"/>
            <a:ext cx="2071107" cy="526134"/>
          </a:xfrm>
          <a:prstGeom prst="rightArrow">
            <a:avLst/>
          </a:prstGeom>
          <a:solidFill>
            <a:srgbClr val="FFFF00"/>
          </a:solidFill>
          <a:ln>
            <a:solidFill>
              <a:srgbClr val="FF6F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9794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503C6BC0-0E69-960A-E594-C30F03146251}"/>
            </a:ext>
          </a:extLst>
        </p:cNvPr>
        <p:cNvGrpSpPr/>
        <p:nvPr/>
      </p:nvGrpSpPr>
      <p:grpSpPr>
        <a:xfrm>
          <a:off x="0" y="0"/>
          <a:ext cx="0" cy="0"/>
          <a:chOff x="0" y="0"/>
          <a:chExt cx="0" cy="0"/>
        </a:xfrm>
      </p:grpSpPr>
      <p:sp>
        <p:nvSpPr>
          <p:cNvPr id="202" name="Google Shape;202;p23">
            <a:extLst>
              <a:ext uri="{FF2B5EF4-FFF2-40B4-BE49-F238E27FC236}">
                <a16:creationId xmlns:a16="http://schemas.microsoft.com/office/drawing/2014/main" id="{E7E8F05B-9190-312B-5D71-DD0C0C1D2796}"/>
              </a:ext>
            </a:extLst>
          </p:cNvPr>
          <p:cNvSpPr txBox="1"/>
          <p:nvPr/>
        </p:nvSpPr>
        <p:spPr>
          <a:xfrm>
            <a:off x="380099" y="256832"/>
            <a:ext cx="8431282"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4000" b="1" u="sng" dirty="0">
                <a:solidFill>
                  <a:srgbClr val="FF6F0D"/>
                </a:solidFill>
                <a:latin typeface="Lato"/>
                <a:ea typeface="Lato"/>
                <a:cs typeface="Lato"/>
                <a:sym typeface="Lato"/>
              </a:rPr>
              <a:t>Interfaz Set. </a:t>
            </a:r>
            <a:r>
              <a:rPr lang="es-419" sz="3600" b="1" u="sng" dirty="0">
                <a:solidFill>
                  <a:srgbClr val="FF6F0D"/>
                </a:solidFill>
                <a:latin typeface="Lato"/>
                <a:ea typeface="Lato"/>
                <a:cs typeface="Lato"/>
                <a:sym typeface="Lato"/>
              </a:rPr>
              <a:t>Características principales</a:t>
            </a:r>
            <a:endParaRPr lang="es-419" sz="3600" b="1" dirty="0">
              <a:solidFill>
                <a:srgbClr val="FF6F0D"/>
              </a:solidFill>
              <a:latin typeface="Lato"/>
              <a:ea typeface="Lato"/>
              <a:cs typeface="Lato"/>
              <a:sym typeface="Lato"/>
            </a:endParaRPr>
          </a:p>
        </p:txBody>
      </p:sp>
      <p:sp>
        <p:nvSpPr>
          <p:cNvPr id="205" name="Google Shape;205;p23">
            <a:extLst>
              <a:ext uri="{FF2B5EF4-FFF2-40B4-BE49-F238E27FC236}">
                <a16:creationId xmlns:a16="http://schemas.microsoft.com/office/drawing/2014/main" id="{4F6FA29C-BCAE-FF32-F258-1CDDC37D4753}"/>
              </a:ext>
            </a:extLst>
          </p:cNvPr>
          <p:cNvSpPr txBox="1"/>
          <p:nvPr/>
        </p:nvSpPr>
        <p:spPr>
          <a:xfrm>
            <a:off x="380098" y="1131854"/>
            <a:ext cx="8503925" cy="3785621"/>
          </a:xfrm>
          <a:prstGeom prst="rect">
            <a:avLst/>
          </a:prstGeom>
          <a:noFill/>
          <a:ln>
            <a:noFill/>
          </a:ln>
        </p:spPr>
        <p:txBody>
          <a:bodyPr spcFirstLastPara="1" wrap="square" lIns="91425" tIns="91425" rIns="91425" bIns="91425" anchor="t" anchorCtr="0">
            <a:spAutoFit/>
          </a:bodyPr>
          <a:lstStyle/>
          <a:p>
            <a:pPr lvl="0" algn="just"/>
            <a:r>
              <a:rPr lang="es-419" sz="1800" dirty="0">
                <a:solidFill>
                  <a:schemeClr val="lt1"/>
                </a:solidFill>
                <a:latin typeface="Lato"/>
                <a:ea typeface="Lato"/>
                <a:cs typeface="Lato"/>
                <a:sym typeface="Lato"/>
              </a:rPr>
              <a:t>* La interfaz Set se utiliza para representar una colección de elementos:</a:t>
            </a:r>
          </a:p>
          <a:p>
            <a:pPr lvl="0" algn="just"/>
            <a:endParaRPr lang="es-419" sz="1800" dirty="0">
              <a:solidFill>
                <a:schemeClr val="lt1"/>
              </a:solidFill>
              <a:latin typeface="Lato"/>
              <a:ea typeface="Lato"/>
              <a:cs typeface="Lato"/>
              <a:sym typeface="Lato"/>
            </a:endParaRPr>
          </a:p>
          <a:p>
            <a:pPr lvl="0"/>
            <a:r>
              <a:rPr lang="es-419" sz="1800" b="1" dirty="0">
                <a:solidFill>
                  <a:srgbClr val="00B0F0"/>
                </a:solidFill>
                <a:latin typeface="Lato"/>
                <a:ea typeface="Lato"/>
                <a:cs typeface="Lato"/>
                <a:sym typeface="Lato"/>
              </a:rPr>
              <a:t>=&gt;</a:t>
            </a:r>
            <a:r>
              <a:rPr lang="es-419" sz="1800" b="1" dirty="0">
                <a:solidFill>
                  <a:srgbClr val="FFFF00"/>
                </a:solidFill>
                <a:latin typeface="Lato"/>
                <a:ea typeface="Lato"/>
                <a:cs typeface="Lato"/>
                <a:sym typeface="Lato"/>
              </a:rPr>
              <a:t> </a:t>
            </a:r>
            <a:r>
              <a:rPr lang="es-419" sz="1800" b="1" u="sng" dirty="0">
                <a:solidFill>
                  <a:srgbClr val="FFFF00"/>
                </a:solidFill>
                <a:latin typeface="Lato"/>
                <a:ea typeface="Lato"/>
                <a:cs typeface="Lato"/>
                <a:sym typeface="Lato"/>
              </a:rPr>
              <a:t>únicos</a:t>
            </a:r>
            <a:r>
              <a:rPr lang="es-419" sz="1800" b="1" dirty="0">
                <a:solidFill>
                  <a:srgbClr val="FFFF00"/>
                </a:solidFill>
                <a:latin typeface="Lato"/>
                <a:ea typeface="Lato"/>
                <a:cs typeface="Lato"/>
                <a:sym typeface="Lato"/>
              </a:rPr>
              <a:t>: </a:t>
            </a:r>
            <a:r>
              <a:rPr lang="es-419" sz="1800" dirty="0">
                <a:solidFill>
                  <a:schemeClr val="lt1"/>
                </a:solidFill>
                <a:latin typeface="Lato"/>
                <a:ea typeface="Lato"/>
                <a:cs typeface="Lato"/>
                <a:sym typeface="Lato"/>
              </a:rPr>
              <a:t>La interfaz Set </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hereda los métodos de </a:t>
            </a:r>
            <a:r>
              <a:rPr lang="es-ES" sz="1800" dirty="0" err="1">
                <a:solidFill>
                  <a:schemeClr val="bg1"/>
                </a:solidFill>
                <a:latin typeface="Lato" panose="020F0502020204030203" pitchFamily="34" charset="0"/>
                <a:ea typeface="Lato" panose="020F0502020204030203" pitchFamily="34" charset="0"/>
                <a:cs typeface="Lato" panose="020F0502020204030203" pitchFamily="34" charset="0"/>
              </a:rPr>
              <a:t>Collection</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pero agrega sus </a:t>
            </a:r>
          </a:p>
          <a:p>
            <a:pPr lvl="0"/>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propias restricciones para prohibir el duplicado de elementos.</a:t>
            </a:r>
          </a:p>
          <a:p>
            <a:pPr lvl="0" algn="just" rtl="0">
              <a:spcBef>
                <a:spcPts val="0"/>
              </a:spcBef>
              <a:buClr>
                <a:schemeClr val="lt1"/>
              </a:buClr>
              <a:buSzPts val="1600"/>
            </a:pPr>
            <a:endParaRPr lang="es-419" sz="1800" b="1" dirty="0">
              <a:solidFill>
                <a:srgbClr val="00B0F0"/>
              </a:solidFill>
              <a:latin typeface="Lato"/>
              <a:ea typeface="Lato"/>
              <a:cs typeface="Lato"/>
              <a:sym typeface="Lato"/>
            </a:endParaRPr>
          </a:p>
          <a:p>
            <a:pPr lvl="0" algn="just" rtl="0">
              <a:spcBef>
                <a:spcPts val="0"/>
              </a:spcBef>
              <a:buClr>
                <a:schemeClr val="lt1"/>
              </a:buClr>
              <a:buSzPts val="1600"/>
            </a:pPr>
            <a:r>
              <a:rPr lang="es-419" sz="1800" b="1" dirty="0">
                <a:solidFill>
                  <a:srgbClr val="00B0F0"/>
                </a:solidFill>
                <a:latin typeface="Lato"/>
                <a:ea typeface="Lato"/>
                <a:cs typeface="Lato"/>
                <a:sym typeface="Lato"/>
              </a:rPr>
              <a:t>=&gt;</a:t>
            </a:r>
            <a:r>
              <a:rPr lang="es-419" sz="1800" b="1" dirty="0">
                <a:solidFill>
                  <a:srgbClr val="FFFF00"/>
                </a:solidFill>
                <a:latin typeface="Lato"/>
                <a:ea typeface="Lato"/>
                <a:cs typeface="Lato"/>
                <a:sym typeface="Lato"/>
              </a:rPr>
              <a:t> </a:t>
            </a:r>
            <a:r>
              <a:rPr lang="es-419" sz="1800" b="1" u="sng" dirty="0">
                <a:solidFill>
                  <a:srgbClr val="FFFF00"/>
                </a:solidFill>
                <a:latin typeface="Lato"/>
                <a:ea typeface="Lato"/>
                <a:cs typeface="Lato"/>
                <a:sym typeface="Lato"/>
              </a:rPr>
              <a:t>no ordenados</a:t>
            </a:r>
            <a:r>
              <a:rPr lang="es-419" sz="1800" b="1" dirty="0">
                <a:solidFill>
                  <a:srgbClr val="FFFF00"/>
                </a:solidFill>
                <a:latin typeface="Lato"/>
                <a:ea typeface="Lato"/>
                <a:cs typeface="Lato"/>
                <a:sym typeface="Lato"/>
              </a:rPr>
              <a:t>: </a:t>
            </a:r>
            <a:r>
              <a:rPr lang="es-419" sz="1800" dirty="0">
                <a:solidFill>
                  <a:schemeClr val="lt1"/>
                </a:solidFill>
                <a:latin typeface="Lato"/>
                <a:ea typeface="Lato"/>
                <a:cs typeface="Lato"/>
                <a:sym typeface="Lato"/>
              </a:rPr>
              <a:t>No se puede garantizar el orden en el que se devolverán los </a:t>
            </a:r>
          </a:p>
          <a:p>
            <a:pPr lvl="0" algn="just">
              <a:buClr>
                <a:schemeClr val="lt1"/>
              </a:buClr>
              <a:buSzPts val="1600"/>
            </a:pPr>
            <a:r>
              <a:rPr lang="es-419" sz="1800" dirty="0">
                <a:solidFill>
                  <a:schemeClr val="lt1"/>
                </a:solidFill>
                <a:latin typeface="Lato"/>
                <a:ea typeface="Lato"/>
                <a:cs typeface="Lato"/>
                <a:sym typeface="Lato"/>
              </a:rPr>
              <a:t>     elementos.</a:t>
            </a:r>
          </a:p>
          <a:p>
            <a:pPr lvl="0" algn="just">
              <a:buClr>
                <a:schemeClr val="lt1"/>
              </a:buClr>
              <a:buSzPts val="1600"/>
            </a:pPr>
            <a:endParaRPr sz="1800" dirty="0">
              <a:solidFill>
                <a:schemeClr val="lt1"/>
              </a:solidFill>
              <a:latin typeface="Lato"/>
              <a:ea typeface="Lato"/>
              <a:cs typeface="Lato"/>
              <a:sym typeface="Lato"/>
            </a:endParaRPr>
          </a:p>
          <a:p>
            <a:pPr lvl="0" algn="just">
              <a:buClr>
                <a:schemeClr val="lt1"/>
              </a:buClr>
              <a:buSzPts val="1600"/>
            </a:pPr>
            <a:r>
              <a:rPr lang="es-419" sz="1800" b="1" dirty="0">
                <a:solidFill>
                  <a:srgbClr val="00B0F0"/>
                </a:solidFill>
                <a:latin typeface="Lato"/>
                <a:ea typeface="Lato"/>
                <a:cs typeface="Lato"/>
                <a:sym typeface="Lato"/>
              </a:rPr>
              <a:t>=&gt;</a:t>
            </a:r>
            <a:r>
              <a:rPr lang="es-419" sz="1800" b="1" dirty="0">
                <a:solidFill>
                  <a:srgbClr val="FFFF00"/>
                </a:solidFill>
                <a:latin typeface="Lato"/>
                <a:ea typeface="Lato"/>
                <a:cs typeface="Lato"/>
                <a:sym typeface="Lato"/>
              </a:rPr>
              <a:t> </a:t>
            </a:r>
            <a:r>
              <a:rPr lang="es-419" sz="1800" b="1" u="sng" dirty="0">
                <a:solidFill>
                  <a:srgbClr val="FFFF00"/>
                </a:solidFill>
                <a:latin typeface="Lato"/>
                <a:ea typeface="Lato"/>
                <a:cs typeface="Lato"/>
                <a:sym typeface="Lato"/>
              </a:rPr>
              <a:t>Con acceso mediante iteración</a:t>
            </a:r>
            <a:r>
              <a:rPr lang="es-419" sz="1800" b="1" dirty="0">
                <a:solidFill>
                  <a:srgbClr val="FFFF00"/>
                </a:solidFill>
                <a:latin typeface="Lato"/>
                <a:ea typeface="Lato"/>
                <a:cs typeface="Lato"/>
                <a:sym typeface="Lato"/>
              </a:rPr>
              <a:t>: </a:t>
            </a:r>
            <a:r>
              <a:rPr lang="es-419" sz="1800" dirty="0">
                <a:solidFill>
                  <a:srgbClr val="FFFF00"/>
                </a:solidFill>
                <a:latin typeface="Lato"/>
                <a:ea typeface="Lato"/>
                <a:cs typeface="Lato"/>
                <a:sym typeface="Lato"/>
              </a:rPr>
              <a:t>No se puede acceder a los elementos por </a:t>
            </a:r>
          </a:p>
          <a:p>
            <a:pPr lvl="0" algn="just">
              <a:buClr>
                <a:schemeClr val="lt1"/>
              </a:buClr>
              <a:buSzPts val="1600"/>
            </a:pPr>
            <a:r>
              <a:rPr lang="es-419" sz="1800" dirty="0">
                <a:solidFill>
                  <a:srgbClr val="FFFF00"/>
                </a:solidFill>
                <a:latin typeface="Lato"/>
                <a:ea typeface="Lato"/>
                <a:cs typeface="Lato"/>
                <a:sym typeface="Lato"/>
              </a:rPr>
              <a:t>      índice, como en List</a:t>
            </a:r>
            <a:r>
              <a:rPr lang="es-419" sz="1800" dirty="0">
                <a:solidFill>
                  <a:schemeClr val="lt1"/>
                </a:solidFill>
                <a:latin typeface="Lato"/>
                <a:ea typeface="Lato"/>
                <a:cs typeface="Lato"/>
                <a:sym typeface="Lato"/>
              </a:rPr>
              <a:t>, se accede mediante un iterador. </a:t>
            </a:r>
          </a:p>
          <a:p>
            <a:pPr lvl="0">
              <a:lnSpc>
                <a:spcPct val="150000"/>
              </a:lnSpc>
            </a:pPr>
            <a:endParaRPr lang="es-419" sz="1800" dirty="0">
              <a:solidFill>
                <a:schemeClr val="lt1"/>
              </a:solidFill>
              <a:latin typeface="Lato"/>
              <a:ea typeface="Lato"/>
              <a:cs typeface="Lato"/>
              <a:sym typeface="Lato"/>
            </a:endParaRPr>
          </a:p>
          <a:p>
            <a:pPr lvl="0">
              <a:lnSpc>
                <a:spcPct val="150000"/>
              </a:lnSpc>
            </a:pPr>
            <a:r>
              <a:rPr lang="es-419" sz="1800" dirty="0">
                <a:solidFill>
                  <a:schemeClr val="lt1"/>
                </a:solidFill>
                <a:latin typeface="Lato"/>
                <a:ea typeface="Lato"/>
                <a:cs typeface="Lato"/>
                <a:sym typeface="Lato"/>
              </a:rPr>
              <a:t>* La interfaz Set es implementada en las clases: </a:t>
            </a:r>
            <a:r>
              <a:rPr lang="es-419" sz="1800" b="1" dirty="0">
                <a:solidFill>
                  <a:srgbClr val="00B0F0"/>
                </a:solidFill>
                <a:latin typeface="Lato"/>
                <a:ea typeface="Lato"/>
                <a:cs typeface="Lato"/>
                <a:sym typeface="Lato"/>
              </a:rPr>
              <a:t>HashSet, TreeSet Y LinkedHashset</a:t>
            </a:r>
            <a:endParaRPr sz="1800" dirty="0">
              <a:solidFill>
                <a:schemeClr val="lt1"/>
              </a:solidFill>
              <a:latin typeface="Lato"/>
              <a:ea typeface="Lato"/>
              <a:cs typeface="Lato"/>
              <a:sym typeface="Lato"/>
            </a:endParaRPr>
          </a:p>
        </p:txBody>
      </p:sp>
    </p:spTree>
    <p:extLst>
      <p:ext uri="{BB962C8B-B14F-4D97-AF65-F5344CB8AC3E}">
        <p14:creationId xmlns:p14="http://schemas.microsoft.com/office/powerpoint/2010/main" val="2533057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313765" y="277251"/>
            <a:ext cx="8507506"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Interface Set: El método add y los objetos repetidos:</a:t>
            </a:r>
            <a:endParaRPr sz="2800" b="1" u="sng" dirty="0">
              <a:solidFill>
                <a:srgbClr val="FF6F0D"/>
              </a:solidFill>
              <a:latin typeface="Lato"/>
              <a:ea typeface="Lato"/>
              <a:cs typeface="Lato"/>
              <a:sym typeface="Lato"/>
            </a:endParaRPr>
          </a:p>
        </p:txBody>
      </p:sp>
      <p:sp>
        <p:nvSpPr>
          <p:cNvPr id="2" name="Shape 167">
            <a:extLst>
              <a:ext uri="{FF2B5EF4-FFF2-40B4-BE49-F238E27FC236}">
                <a16:creationId xmlns:a16="http://schemas.microsoft.com/office/drawing/2014/main" id="{F6FADFDE-9915-FC93-FFF9-B31B0D40B22F}"/>
              </a:ext>
            </a:extLst>
          </p:cNvPr>
          <p:cNvSpPr txBox="1">
            <a:spLocks/>
          </p:cNvSpPr>
          <p:nvPr/>
        </p:nvSpPr>
        <p:spPr>
          <a:xfrm>
            <a:off x="549263" y="963919"/>
            <a:ext cx="8038925" cy="39023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s-ES" sz="18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si tenemos un objeto que tiene las mismas características (</a:t>
            </a:r>
            <a:r>
              <a:rPr lang="es-ES" sz="1800" dirty="0" err="1">
                <a:solidFill>
                  <a:schemeClr val="bg1"/>
                </a:solidFill>
                <a:latin typeface="Lato" panose="020F0502020204030203" pitchFamily="34" charset="0"/>
                <a:ea typeface="Lato" panose="020F0502020204030203" pitchFamily="34" charset="0"/>
                <a:cs typeface="Lato" panose="020F0502020204030203" pitchFamily="34" charset="0"/>
              </a:rPr>
              <a:t>equals</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y el mismo </a:t>
            </a:r>
            <a:r>
              <a:rPr lang="es-ES" sz="1800" dirty="0" err="1">
                <a:solidFill>
                  <a:schemeClr val="bg1"/>
                </a:solidFill>
                <a:latin typeface="Lato" panose="020F0502020204030203" pitchFamily="34" charset="0"/>
                <a:ea typeface="Lato" panose="020F0502020204030203" pitchFamily="34" charset="0"/>
                <a:cs typeface="Lato" panose="020F0502020204030203" pitchFamily="34" charset="0"/>
              </a:rPr>
              <a:t>hashcode</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que algún objeto que ya se encuentra en el Set , no se lanza ninguna excepción, pero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el elemento NO se agrega a la colección </a:t>
            </a:r>
          </a:p>
          <a:p>
            <a:pPr algn="just">
              <a:lnSpc>
                <a:spcPct val="150000"/>
              </a:lnSpc>
            </a:pPr>
            <a:endParaRPr lang="es-ES" sz="1800" b="1" dirty="0">
              <a:solidFill>
                <a:srgbClr val="FFFF00"/>
              </a:solidFill>
              <a:latin typeface="Lato" panose="020F0502020204030203" pitchFamily="34" charset="0"/>
              <a:ea typeface="Lato" panose="020F0502020204030203" pitchFamily="34" charset="0"/>
              <a:cs typeface="Lato" panose="020F0502020204030203" pitchFamily="34" charset="0"/>
            </a:endParaRPr>
          </a:p>
          <a:p>
            <a:pPr algn="just">
              <a:lnSpc>
                <a:spcPct val="150000"/>
              </a:lnSpc>
            </a:pPr>
            <a:r>
              <a:rPr lang="es-ES" sz="18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Como el método </a:t>
            </a:r>
            <a:r>
              <a:rPr lang="es-ES" sz="1800" b="1" dirty="0" err="1">
                <a:solidFill>
                  <a:srgbClr val="69FFCC"/>
                </a:solidFill>
                <a:latin typeface="Lato" panose="020F0502020204030203" pitchFamily="34" charset="0"/>
                <a:ea typeface="Lato" panose="020F0502020204030203" pitchFamily="34" charset="0"/>
                <a:cs typeface="Lato" panose="020F0502020204030203" pitchFamily="34" charset="0"/>
              </a:rPr>
              <a:t>add</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de la Interface </a:t>
            </a:r>
            <a:r>
              <a:rPr lang="es-ES" sz="1800" dirty="0" err="1">
                <a:solidFill>
                  <a:schemeClr val="bg1"/>
                </a:solidFill>
                <a:latin typeface="Lato" panose="020F0502020204030203" pitchFamily="34" charset="0"/>
                <a:ea typeface="Lato" panose="020F0502020204030203" pitchFamily="34" charset="0"/>
                <a:cs typeface="Lato" panose="020F0502020204030203" pitchFamily="34" charset="0"/>
              </a:rPr>
              <a:t>Collection</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retorna true o false si agregó o no, en este caso nos sirve analizarlo: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si el elemento a añadir no está en el conjunto y ha sido añadido retornará true, o false si el elemento ya se encontraba dentro del conjunto. </a:t>
            </a:r>
          </a:p>
          <a:p>
            <a:pPr algn="just">
              <a:lnSpc>
                <a:spcPct val="150000"/>
              </a:lnSpc>
              <a:spcBef>
                <a:spcPts val="1600"/>
              </a:spcBef>
              <a:spcAft>
                <a:spcPts val="1600"/>
              </a:spcAft>
            </a:pPr>
            <a:r>
              <a:rPr lang="es-ES" sz="18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Un conjunto podrá contener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a lo sumo un elemento </a:t>
            </a:r>
            <a:r>
              <a:rPr lang="es-ES" sz="1800" b="1" dirty="0" err="1">
                <a:solidFill>
                  <a:srgbClr val="FFFF00"/>
                </a:solidFill>
                <a:latin typeface="Lato" panose="020F0502020204030203" pitchFamily="34" charset="0"/>
                <a:ea typeface="Lato" panose="020F0502020204030203" pitchFamily="34" charset="0"/>
                <a:cs typeface="Lato" panose="020F0502020204030203" pitchFamily="34" charset="0"/>
              </a:rPr>
              <a:t>null</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62869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403411" y="115886"/>
            <a:ext cx="8453717"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Interface Set: El método add y los objetos repetidos:</a:t>
            </a:r>
            <a:endParaRPr sz="2800" b="1" u="sng" dirty="0">
              <a:solidFill>
                <a:srgbClr val="FF6F0D"/>
              </a:solidFill>
              <a:latin typeface="Lato"/>
              <a:ea typeface="Lato"/>
              <a:cs typeface="Lato"/>
              <a:sym typeface="Lato"/>
            </a:endParaRPr>
          </a:p>
        </p:txBody>
      </p:sp>
      <p:sp>
        <p:nvSpPr>
          <p:cNvPr id="2" name="Shape 167">
            <a:extLst>
              <a:ext uri="{FF2B5EF4-FFF2-40B4-BE49-F238E27FC236}">
                <a16:creationId xmlns:a16="http://schemas.microsoft.com/office/drawing/2014/main" id="{F6FADFDE-9915-FC93-FFF9-B31B0D40B22F}"/>
              </a:ext>
            </a:extLst>
          </p:cNvPr>
          <p:cNvSpPr txBox="1">
            <a:spLocks/>
          </p:cNvSpPr>
          <p:nvPr/>
        </p:nvSpPr>
        <p:spPr>
          <a:xfrm>
            <a:off x="403412" y="906662"/>
            <a:ext cx="8328212" cy="423683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spcAft>
                <a:spcPts val="1800"/>
              </a:spcAft>
            </a:pPr>
            <a:r>
              <a:rPr lang="es-ES" sz="1900" b="1" u="sng" dirty="0">
                <a:solidFill>
                  <a:srgbClr val="FFFF00"/>
                </a:solidFill>
                <a:latin typeface="Lato" panose="020F0502020204030203" pitchFamily="34" charset="0"/>
                <a:ea typeface="Lato" panose="020F0502020204030203" pitchFamily="34" charset="0"/>
                <a:cs typeface="Lato" panose="020F0502020204030203" pitchFamily="34" charset="0"/>
              </a:rPr>
              <a:t>Para que Set funcione correctamente, es crucial que los objetos que se añaden implementen de manera adecuada los métodos </a:t>
            </a:r>
            <a:r>
              <a:rPr lang="es-ES" sz="1900" b="1" u="sng" dirty="0" err="1">
                <a:solidFill>
                  <a:srgbClr val="00B0F0"/>
                </a:solidFill>
                <a:latin typeface="Lato" panose="020F0502020204030203" pitchFamily="34" charset="0"/>
                <a:ea typeface="Lato" panose="020F0502020204030203" pitchFamily="34" charset="0"/>
                <a:cs typeface="Lato" panose="020F0502020204030203" pitchFamily="34" charset="0"/>
              </a:rPr>
              <a:t>equals</a:t>
            </a:r>
            <a:r>
              <a:rPr lang="es-ES" sz="1900" b="1" u="sng" dirty="0">
                <a:solidFill>
                  <a:srgbClr val="FFFF00"/>
                </a:solidFill>
                <a:latin typeface="Lato" panose="020F0502020204030203" pitchFamily="34" charset="0"/>
                <a:ea typeface="Lato" panose="020F0502020204030203" pitchFamily="34" charset="0"/>
                <a:cs typeface="Lato" panose="020F0502020204030203" pitchFamily="34" charset="0"/>
              </a:rPr>
              <a:t> y </a:t>
            </a:r>
            <a:r>
              <a:rPr lang="es-ES" sz="1900" b="1" u="sng" dirty="0" err="1">
                <a:solidFill>
                  <a:srgbClr val="00B0F0"/>
                </a:solidFill>
                <a:latin typeface="Lato" panose="020F0502020204030203" pitchFamily="34" charset="0"/>
                <a:ea typeface="Lato" panose="020F0502020204030203" pitchFamily="34" charset="0"/>
                <a:cs typeface="Lato" panose="020F0502020204030203" pitchFamily="34" charset="0"/>
              </a:rPr>
              <a:t>hashCode</a:t>
            </a:r>
            <a:endParaRPr lang="es-ES" sz="1900" b="1" u="sng" dirty="0">
              <a:solidFill>
                <a:srgbClr val="FFFF00"/>
              </a:solidFill>
              <a:latin typeface="Lato" panose="020F0502020204030203" pitchFamily="34" charset="0"/>
              <a:ea typeface="Lato" panose="020F0502020204030203" pitchFamily="34" charset="0"/>
              <a:cs typeface="Lato" panose="020F0502020204030203" pitchFamily="34" charset="0"/>
            </a:endParaRPr>
          </a:p>
          <a:p>
            <a:pPr algn="just">
              <a:lnSpc>
                <a:spcPct val="150000"/>
              </a:lnSpc>
              <a:spcAft>
                <a:spcPts val="1800"/>
              </a:spcAft>
            </a:pP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1600" dirty="0" err="1">
                <a:solidFill>
                  <a:schemeClr val="bg1"/>
                </a:solidFill>
                <a:latin typeface="Lato" panose="020F0502020204030203" pitchFamily="34" charset="0"/>
                <a:ea typeface="Lato" panose="020F0502020204030203" pitchFamily="34" charset="0"/>
                <a:cs typeface="Lato" panose="020F0502020204030203" pitchFamily="34" charset="0"/>
              </a:rPr>
              <a:t>equals</a:t>
            </a: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a:t>
            </a:r>
            <a:r>
              <a:rPr lang="es-ES" sz="1600" dirty="0" err="1">
                <a:solidFill>
                  <a:schemeClr val="bg1"/>
                </a:solidFill>
                <a:latin typeface="Lato" panose="020F0502020204030203" pitchFamily="34" charset="0"/>
                <a:ea typeface="Lato" panose="020F0502020204030203" pitchFamily="34" charset="0"/>
                <a:cs typeface="Lato" panose="020F0502020204030203" pitchFamily="34" charset="0"/>
              </a:rPr>
              <a:t>Object</a:t>
            </a: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1600" dirty="0" err="1">
                <a:solidFill>
                  <a:schemeClr val="bg1"/>
                </a:solidFill>
                <a:latin typeface="Lato" panose="020F0502020204030203" pitchFamily="34" charset="0"/>
                <a:ea typeface="Lato" panose="020F0502020204030203" pitchFamily="34" charset="0"/>
                <a:cs typeface="Lato" panose="020F0502020204030203" pitchFamily="34" charset="0"/>
              </a:rPr>
              <a:t>obj</a:t>
            </a: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Determina si dos objetos son iguales en contenido. Es usado por implementaciones de Set para asegurar que no se añadan duplicados. </a:t>
            </a:r>
          </a:p>
          <a:p>
            <a:pPr algn="just">
              <a:lnSpc>
                <a:spcPct val="150000"/>
              </a:lnSpc>
              <a:spcAft>
                <a:spcPts val="1800"/>
              </a:spcAft>
            </a:pP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1600" dirty="0" err="1">
                <a:solidFill>
                  <a:schemeClr val="bg1"/>
                </a:solidFill>
                <a:latin typeface="Lato" panose="020F0502020204030203" pitchFamily="34" charset="0"/>
                <a:ea typeface="Lato" panose="020F0502020204030203" pitchFamily="34" charset="0"/>
                <a:cs typeface="Lato" panose="020F0502020204030203" pitchFamily="34" charset="0"/>
              </a:rPr>
              <a:t>hashCode</a:t>
            </a: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Proporciona el código hash de un objeto, que es usado por las implementaciones basadas en hash de Set (como </a:t>
            </a:r>
            <a:r>
              <a:rPr lang="es-ES" sz="1600" dirty="0" err="1">
                <a:solidFill>
                  <a:schemeClr val="bg1"/>
                </a:solidFill>
                <a:latin typeface="Lato" panose="020F0502020204030203" pitchFamily="34" charset="0"/>
                <a:ea typeface="Lato" panose="020F0502020204030203" pitchFamily="34" charset="0"/>
                <a:cs typeface="Lato" panose="020F0502020204030203" pitchFamily="34" charset="0"/>
              </a:rPr>
              <a:t>HashSet</a:t>
            </a:r>
            <a:r>
              <a:rPr lang="es-ES" sz="1600" dirty="0">
                <a:solidFill>
                  <a:schemeClr val="bg1"/>
                </a:solidFill>
                <a:latin typeface="Lato" panose="020F0502020204030203" pitchFamily="34" charset="0"/>
                <a:ea typeface="Lato" panose="020F0502020204030203" pitchFamily="34" charset="0"/>
                <a:cs typeface="Lato" panose="020F0502020204030203" pitchFamily="34" charset="0"/>
              </a:rPr>
              <a:t>) para almacenar objetos de manera que puedan ser recuperados rápidamente. </a:t>
            </a:r>
          </a:p>
          <a:p>
            <a:pPr algn="just">
              <a:lnSpc>
                <a:spcPct val="150000"/>
              </a:lnSpc>
            </a:pPr>
            <a:r>
              <a:rPr lang="es-ES" sz="1800" dirty="0">
                <a:solidFill>
                  <a:srgbClr val="69FFCC"/>
                </a:solidFill>
                <a:latin typeface="Lato" panose="020F0502020204030203" pitchFamily="34" charset="0"/>
                <a:ea typeface="Lato" panose="020F0502020204030203" pitchFamily="34" charset="0"/>
                <a:cs typeface="Lato" panose="020F0502020204030203" pitchFamily="34" charset="0"/>
              </a:rPr>
              <a:t>Si dos objetos son considerados iguales según el método </a:t>
            </a:r>
            <a:r>
              <a:rPr lang="es-ES" sz="1800" dirty="0" err="1">
                <a:solidFill>
                  <a:srgbClr val="69FFCC"/>
                </a:solidFill>
                <a:latin typeface="Lato" panose="020F0502020204030203" pitchFamily="34" charset="0"/>
                <a:ea typeface="Lato" panose="020F0502020204030203" pitchFamily="34" charset="0"/>
                <a:cs typeface="Lato" panose="020F0502020204030203" pitchFamily="34" charset="0"/>
              </a:rPr>
              <a:t>equals</a:t>
            </a:r>
            <a:r>
              <a:rPr lang="es-ES" sz="1800" dirty="0">
                <a:solidFill>
                  <a:srgbClr val="69FFCC"/>
                </a:solidFill>
                <a:latin typeface="Lato" panose="020F0502020204030203" pitchFamily="34" charset="0"/>
                <a:ea typeface="Lato" panose="020F0502020204030203" pitchFamily="34" charset="0"/>
                <a:cs typeface="Lato" panose="020F0502020204030203" pitchFamily="34" charset="0"/>
              </a:rPr>
              <a:t>, entonces deben tener el mismo valor de código hash</a:t>
            </a:r>
          </a:p>
        </p:txBody>
      </p:sp>
    </p:spTree>
    <p:extLst>
      <p:ext uri="{BB962C8B-B14F-4D97-AF65-F5344CB8AC3E}">
        <p14:creationId xmlns:p14="http://schemas.microsoft.com/office/powerpoint/2010/main" val="5523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549265" y="110676"/>
            <a:ext cx="7759853"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Interface Set: Cómo recorrer la colección:</a:t>
            </a:r>
            <a:endParaRPr sz="2800" b="1" u="sng" dirty="0">
              <a:solidFill>
                <a:srgbClr val="FF6F0D"/>
              </a:solidFill>
              <a:latin typeface="Lato"/>
              <a:ea typeface="Lato"/>
              <a:cs typeface="Lato"/>
              <a:sym typeface="Lato"/>
            </a:endParaRPr>
          </a:p>
        </p:txBody>
      </p:sp>
      <p:sp>
        <p:nvSpPr>
          <p:cNvPr id="2" name="Shape 167">
            <a:extLst>
              <a:ext uri="{FF2B5EF4-FFF2-40B4-BE49-F238E27FC236}">
                <a16:creationId xmlns:a16="http://schemas.microsoft.com/office/drawing/2014/main" id="{F6FADFDE-9915-FC93-FFF9-B31B0D40B22F}"/>
              </a:ext>
            </a:extLst>
          </p:cNvPr>
          <p:cNvSpPr txBox="1">
            <a:spLocks/>
          </p:cNvSpPr>
          <p:nvPr/>
        </p:nvSpPr>
        <p:spPr>
          <a:xfrm>
            <a:off x="579432" y="838880"/>
            <a:ext cx="7985135" cy="150987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=&gt; PARA RECORRER UN SET SE USA UN </a:t>
            </a:r>
            <a:r>
              <a:rPr lang="es-ES" sz="1800" b="1" dirty="0">
                <a:solidFill>
                  <a:srgbClr val="00B0F0"/>
                </a:solidFill>
                <a:latin typeface="Lato" panose="020F0502020204030203" pitchFamily="34" charset="0"/>
                <a:ea typeface="Lato" panose="020F0502020204030203" pitchFamily="34" charset="0"/>
                <a:cs typeface="Lato" panose="020F0502020204030203" pitchFamily="34" charset="0"/>
              </a:rPr>
              <a:t>ITERADOR</a:t>
            </a:r>
            <a:r>
              <a:rPr lang="es-ES" sz="1800" b="1" dirty="0">
                <a:solidFill>
                  <a:schemeClr val="bg1"/>
                </a:solidFill>
                <a:latin typeface="Lato" panose="020F0502020204030203" pitchFamily="34" charset="0"/>
                <a:ea typeface="Lato" panose="020F0502020204030203" pitchFamily="34" charset="0"/>
                <a:cs typeface="Lato" panose="020F0502020204030203" pitchFamily="34" charset="0"/>
              </a:rPr>
              <a:t>.</a:t>
            </a:r>
          </a:p>
          <a:p>
            <a:pPr algn="just"/>
            <a:endParaRPr lang="es-ES" sz="1800" b="1" dirty="0">
              <a:solidFill>
                <a:schemeClr val="bg1"/>
              </a:solidFill>
              <a:latin typeface="Lato" panose="020F0502020204030203" pitchFamily="34" charset="0"/>
              <a:ea typeface="Lato" panose="020F0502020204030203" pitchFamily="34" charset="0"/>
              <a:cs typeface="Lato" panose="020F0502020204030203" pitchFamily="34" charset="0"/>
            </a:endParaRPr>
          </a:p>
          <a:p>
            <a:pPr algn="just"/>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=&gt;</a:t>
            </a:r>
            <a:r>
              <a:rPr lang="es-419" sz="18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419" sz="1800" b="1" dirty="0">
                <a:solidFill>
                  <a:srgbClr val="00B0F0"/>
                </a:solidFill>
                <a:latin typeface="Lato" panose="020F0502020204030203" pitchFamily="34" charset="0"/>
                <a:ea typeface="Lato" panose="020F0502020204030203" pitchFamily="34" charset="0"/>
                <a:cs typeface="Lato" panose="020F0502020204030203" pitchFamily="34" charset="0"/>
              </a:rPr>
              <a:t>Iterator </a:t>
            </a:r>
            <a:r>
              <a:rPr lang="es-419" sz="1800" b="1" dirty="0">
                <a:solidFill>
                  <a:srgbClr val="69FFCC"/>
                </a:solidFill>
                <a:latin typeface="Lato" panose="020F0502020204030203" pitchFamily="34" charset="0"/>
                <a:ea typeface="Lato" panose="020F0502020204030203" pitchFamily="34" charset="0"/>
                <a:cs typeface="Lato" panose="020F0502020204030203" pitchFamily="34" charset="0"/>
              </a:rPr>
              <a:t>iterator</a:t>
            </a:r>
            <a:r>
              <a:rPr lang="es-419" sz="1800" b="1" dirty="0">
                <a:solidFill>
                  <a:srgbClr val="00B0F0"/>
                </a:solidFill>
                <a:latin typeface="Lato" panose="020F0502020204030203" pitchFamily="34" charset="0"/>
                <a:ea typeface="Lato" panose="020F0502020204030203" pitchFamily="34" charset="0"/>
                <a:cs typeface="Lato" panose="020F0502020204030203" pitchFamily="34" charset="0"/>
              </a:rPr>
              <a:t>()</a:t>
            </a:r>
            <a:r>
              <a:rPr lang="es-419" sz="1800" dirty="0">
                <a:solidFill>
                  <a:schemeClr val="bg1"/>
                </a:solidFill>
                <a:latin typeface="Lato" panose="020F0502020204030203" pitchFamily="34" charset="0"/>
                <a:ea typeface="Lato" panose="020F0502020204030203" pitchFamily="34" charset="0"/>
                <a:cs typeface="Lato" panose="020F0502020204030203" pitchFamily="34" charset="0"/>
              </a:rPr>
              <a:t>: método que retorna un iterador</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(una especie de cursor o puntero lógico), que se ubica </a:t>
            </a:r>
            <a:r>
              <a:rPr lang="es-AR" sz="1800" dirty="0">
                <a:solidFill>
                  <a:schemeClr val="bg1"/>
                </a:solidFill>
                <a:latin typeface="Lato" panose="020F0502020204030203" pitchFamily="34" charset="0"/>
                <a:ea typeface="Lato" panose="020F0502020204030203" pitchFamily="34" charset="0"/>
                <a:cs typeface="Lato" panose="020F0502020204030203" pitchFamily="34" charset="0"/>
              </a:rPr>
              <a:t>en una posición antes del primero (por eso se usa </a:t>
            </a:r>
            <a:r>
              <a:rPr lang="es-AR" sz="1800" dirty="0" err="1">
                <a:solidFill>
                  <a:schemeClr val="bg1"/>
                </a:solidFill>
                <a:latin typeface="Lato" panose="020F0502020204030203" pitchFamily="34" charset="0"/>
                <a:ea typeface="Lato" panose="020F0502020204030203" pitchFamily="34" charset="0"/>
                <a:cs typeface="Lato" panose="020F0502020204030203" pitchFamily="34" charset="0"/>
              </a:rPr>
              <a:t>next</a:t>
            </a:r>
            <a:r>
              <a:rPr lang="es-AR" sz="1800" dirty="0">
                <a:solidFill>
                  <a:schemeClr val="bg1"/>
                </a:solidFill>
                <a:latin typeface="Lato" panose="020F0502020204030203" pitchFamily="34" charset="0"/>
                <a:ea typeface="Lato" panose="020F0502020204030203" pitchFamily="34" charset="0"/>
                <a:cs typeface="Lato" panose="020F0502020204030203" pitchFamily="34" charset="0"/>
              </a:rPr>
              <a:t>)</a:t>
            </a:r>
            <a:endParaRPr lang="es-ES" sz="18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4" name="Imagen 3">
            <a:extLst>
              <a:ext uri="{FF2B5EF4-FFF2-40B4-BE49-F238E27FC236}">
                <a16:creationId xmlns:a16="http://schemas.microsoft.com/office/drawing/2014/main" id="{D9B02FF0-41C3-69A3-86BC-A3B89BFFE2D7}"/>
              </a:ext>
            </a:extLst>
          </p:cNvPr>
          <p:cNvPicPr>
            <a:picLocks noChangeAspect="1"/>
          </p:cNvPicPr>
          <p:nvPr/>
        </p:nvPicPr>
        <p:blipFill>
          <a:blip r:embed="rId3"/>
          <a:stretch>
            <a:fillRect/>
          </a:stretch>
        </p:blipFill>
        <p:spPr>
          <a:xfrm>
            <a:off x="1813047" y="2348753"/>
            <a:ext cx="4910482" cy="2597247"/>
          </a:xfrm>
          <a:prstGeom prst="rect">
            <a:avLst/>
          </a:prstGeom>
        </p:spPr>
      </p:pic>
    </p:spTree>
    <p:extLst>
      <p:ext uri="{BB962C8B-B14F-4D97-AF65-F5344CB8AC3E}">
        <p14:creationId xmlns:p14="http://schemas.microsoft.com/office/powerpoint/2010/main" val="3515575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863480" y="311051"/>
            <a:ext cx="7417039"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Interface Set: Métodos.</a:t>
            </a:r>
            <a:endParaRPr sz="2800" b="1" u="sng" dirty="0">
              <a:solidFill>
                <a:srgbClr val="FF6F0D"/>
              </a:solidFill>
              <a:latin typeface="Lato"/>
              <a:ea typeface="Lato"/>
              <a:cs typeface="Lato"/>
              <a:sym typeface="Lato"/>
            </a:endParaRPr>
          </a:p>
        </p:txBody>
      </p:sp>
      <p:sp>
        <p:nvSpPr>
          <p:cNvPr id="7" name="CuadroTexto 6">
            <a:extLst>
              <a:ext uri="{FF2B5EF4-FFF2-40B4-BE49-F238E27FC236}">
                <a16:creationId xmlns:a16="http://schemas.microsoft.com/office/drawing/2014/main" id="{7194E85C-33E1-7268-10FD-D956B4CB2F2F}"/>
              </a:ext>
            </a:extLst>
          </p:cNvPr>
          <p:cNvSpPr txBox="1"/>
          <p:nvPr/>
        </p:nvSpPr>
        <p:spPr>
          <a:xfrm>
            <a:off x="863480" y="1222409"/>
            <a:ext cx="7734030" cy="3724866"/>
          </a:xfrm>
          <a:prstGeom prst="rect">
            <a:avLst/>
          </a:prstGeom>
          <a:noFill/>
        </p:spPr>
        <p:txBody>
          <a:bodyPr wrap="square">
            <a:spAutoFit/>
          </a:bodyPr>
          <a:lstStyle/>
          <a:p>
            <a:pPr algn="just">
              <a:lnSpc>
                <a:spcPct val="150000"/>
              </a:lnSpc>
            </a:pP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Set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hereda todos los métodos de la interfaz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Collection</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add</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p>
          <a:p>
            <a:pPr algn="just">
              <a:lnSpc>
                <a:spcPct val="150000"/>
              </a:lnSpc>
            </a:pP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remove</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contains</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size</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etc</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p>
          <a:p>
            <a:pPr algn="just">
              <a:lnSpc>
                <a:spcPct val="150000"/>
              </a:lnSpc>
            </a:pPr>
            <a:endParaRPr lang="es-ES" sz="2000" b="1" dirty="0">
              <a:solidFill>
                <a:srgbClr val="00B0F0"/>
              </a:solidFill>
              <a:latin typeface="Lato" panose="020F0502020204030203" pitchFamily="34" charset="0"/>
              <a:ea typeface="Lato" panose="020F0502020204030203" pitchFamily="34" charset="0"/>
              <a:cs typeface="Lato" panose="020F0502020204030203" pitchFamily="34" charset="0"/>
            </a:endParaRPr>
          </a:p>
          <a:p>
            <a:pPr algn="just">
              <a:lnSpc>
                <a:spcPct val="150000"/>
              </a:lnSpc>
            </a:pP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=&gt;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No introduce nuevos métodos específicos. </a:t>
            </a:r>
          </a:p>
          <a:p>
            <a:pPr lvl="0">
              <a:lnSpc>
                <a:spcPct val="150000"/>
              </a:lnSpc>
            </a:pPr>
            <a:endParaRPr lang="es-ES" sz="2000" b="1" dirty="0">
              <a:solidFill>
                <a:srgbClr val="00B0F0"/>
              </a:solidFill>
              <a:latin typeface="Lato" panose="020F0502020204030203" pitchFamily="34" charset="0"/>
              <a:ea typeface="Lato" panose="020F0502020204030203" pitchFamily="34" charset="0"/>
              <a:cs typeface="Lato" panose="020F0502020204030203" pitchFamily="34" charset="0"/>
            </a:endParaRPr>
          </a:p>
          <a:p>
            <a:pPr lvl="0">
              <a:lnSpc>
                <a:spcPct val="150000"/>
              </a:lnSpc>
            </a:pP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=&gt;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Su principal diferencia radica en cómo maneja la adición de </a:t>
            </a:r>
          </a:p>
          <a:p>
            <a:pPr lvl="0">
              <a:lnSpc>
                <a:spcPct val="150000"/>
              </a:lnSpc>
            </a:pP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elementos y la garantía de unicidad, agregando sus propias </a:t>
            </a:r>
          </a:p>
          <a:p>
            <a:pPr lvl="0">
              <a:lnSpc>
                <a:spcPct val="150000"/>
              </a:lnSpc>
            </a:pP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restricciones para prohibir el duplicado de elementos.</a:t>
            </a:r>
            <a:endParaRPr lang="es-AR" sz="2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30449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510988" y="134881"/>
            <a:ext cx="8202706"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Interface</a:t>
            </a:r>
            <a:r>
              <a:rPr lang="es-419" sz="2400" b="1" u="sng" dirty="0">
                <a:solidFill>
                  <a:srgbClr val="FF6F0D"/>
                </a:solidFill>
                <a:latin typeface="Lato"/>
                <a:ea typeface="Lato"/>
                <a:cs typeface="Lato"/>
                <a:sym typeface="Lato"/>
              </a:rPr>
              <a:t> Set: Métodos para comparar colecciones:</a:t>
            </a:r>
            <a:endParaRPr sz="2400" b="1" u="sng" dirty="0">
              <a:solidFill>
                <a:srgbClr val="FF6F0D"/>
              </a:solidFill>
              <a:latin typeface="Lato"/>
              <a:ea typeface="Lato"/>
              <a:cs typeface="Lato"/>
              <a:sym typeface="Lato"/>
            </a:endParaRPr>
          </a:p>
        </p:txBody>
      </p:sp>
      <p:pic>
        <p:nvPicPr>
          <p:cNvPr id="5" name="Imagen 4">
            <a:extLst>
              <a:ext uri="{FF2B5EF4-FFF2-40B4-BE49-F238E27FC236}">
                <a16:creationId xmlns:a16="http://schemas.microsoft.com/office/drawing/2014/main" id="{A0253458-6495-A20A-7F75-FB53B4104FFE}"/>
              </a:ext>
            </a:extLst>
          </p:cNvPr>
          <p:cNvPicPr>
            <a:picLocks noChangeAspect="1"/>
          </p:cNvPicPr>
          <p:nvPr/>
        </p:nvPicPr>
        <p:blipFill>
          <a:blip r:embed="rId3"/>
          <a:stretch>
            <a:fillRect/>
          </a:stretch>
        </p:blipFill>
        <p:spPr>
          <a:xfrm>
            <a:off x="1071210" y="2720087"/>
            <a:ext cx="7001580" cy="2288532"/>
          </a:xfrm>
          <a:prstGeom prst="rect">
            <a:avLst/>
          </a:prstGeom>
        </p:spPr>
      </p:pic>
      <p:sp>
        <p:nvSpPr>
          <p:cNvPr id="7" name="CuadroTexto 6">
            <a:extLst>
              <a:ext uri="{FF2B5EF4-FFF2-40B4-BE49-F238E27FC236}">
                <a16:creationId xmlns:a16="http://schemas.microsoft.com/office/drawing/2014/main" id="{7194E85C-33E1-7268-10FD-D956B4CB2F2F}"/>
              </a:ext>
            </a:extLst>
          </p:cNvPr>
          <p:cNvSpPr txBox="1"/>
          <p:nvPr/>
        </p:nvSpPr>
        <p:spPr>
          <a:xfrm>
            <a:off x="376518" y="870566"/>
            <a:ext cx="8337176" cy="1661993"/>
          </a:xfrm>
          <a:prstGeom prst="rect">
            <a:avLst/>
          </a:prstGeom>
          <a:noFill/>
        </p:spPr>
        <p:txBody>
          <a:bodyPr wrap="square">
            <a:spAutoFit/>
          </a:bodyPr>
          <a:lstStyle/>
          <a:p>
            <a:pPr algn="just"/>
            <a:r>
              <a:rPr lang="es-ES" sz="1700" dirty="0">
                <a:solidFill>
                  <a:schemeClr val="bg1"/>
                </a:solidFill>
                <a:latin typeface="Lato" panose="020F0502020204030203" pitchFamily="34" charset="0"/>
                <a:ea typeface="Lato" panose="020F0502020204030203" pitchFamily="34" charset="0"/>
                <a:cs typeface="Lato" panose="020F0502020204030203" pitchFamily="34" charset="0"/>
              </a:rPr>
              <a:t>Cuando se comparan dos conjuntos para igualdad, se consideran iguales si contienen exactamente los mismos elementos, independientemente del orden. </a:t>
            </a:r>
          </a:p>
          <a:p>
            <a:pPr algn="just"/>
            <a:r>
              <a:rPr lang="es-ES" sz="1700" dirty="0">
                <a:solidFill>
                  <a:schemeClr val="bg1"/>
                </a:solidFill>
                <a:latin typeface="Lato" panose="020F0502020204030203" pitchFamily="34" charset="0"/>
                <a:ea typeface="Lato" panose="020F0502020204030203" pitchFamily="34" charset="0"/>
                <a:cs typeface="Lato" panose="020F0502020204030203" pitchFamily="34" charset="0"/>
              </a:rPr>
              <a:t>Esto es diferente de las listas, donde el orden de los elementos también importa. </a:t>
            </a:r>
          </a:p>
          <a:p>
            <a:pPr algn="just"/>
            <a:r>
              <a:rPr lang="es-ES" sz="1700" dirty="0">
                <a:solidFill>
                  <a:schemeClr val="bg1"/>
                </a:solidFill>
                <a:latin typeface="Lato" panose="020F0502020204030203" pitchFamily="34" charset="0"/>
                <a:ea typeface="Lato" panose="020F0502020204030203" pitchFamily="34" charset="0"/>
                <a:cs typeface="Lato" panose="020F0502020204030203" pitchFamily="34" charset="0"/>
              </a:rPr>
              <a:t>La igualdad entre dos Set se comprueba utilizando los métodos </a:t>
            </a:r>
            <a:r>
              <a:rPr lang="es-ES" sz="1700" dirty="0" err="1">
                <a:solidFill>
                  <a:schemeClr val="bg1"/>
                </a:solidFill>
                <a:latin typeface="Lato" panose="020F0502020204030203" pitchFamily="34" charset="0"/>
                <a:ea typeface="Lato" panose="020F0502020204030203" pitchFamily="34" charset="0"/>
                <a:cs typeface="Lato" panose="020F0502020204030203" pitchFamily="34" charset="0"/>
              </a:rPr>
              <a:t>equals</a:t>
            </a:r>
            <a:r>
              <a:rPr lang="es-ES" sz="1700" dirty="0">
                <a:solidFill>
                  <a:schemeClr val="bg1"/>
                </a:solidFill>
                <a:latin typeface="Lato" panose="020F0502020204030203" pitchFamily="34" charset="0"/>
                <a:ea typeface="Lato" panose="020F0502020204030203" pitchFamily="34" charset="0"/>
                <a:cs typeface="Lato" panose="020F0502020204030203" pitchFamily="34" charset="0"/>
              </a:rPr>
              <a:t> de los elementos contenidos, verificando que cada conjunto contenga todos los elementos del otro sin considerar el orden.</a:t>
            </a:r>
          </a:p>
        </p:txBody>
      </p:sp>
    </p:spTree>
    <p:extLst>
      <p:ext uri="{BB962C8B-B14F-4D97-AF65-F5344CB8AC3E}">
        <p14:creationId xmlns:p14="http://schemas.microsoft.com/office/powerpoint/2010/main" val="374529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451599" y="199209"/>
            <a:ext cx="8150534"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4400" b="1" u="sng" dirty="0">
                <a:solidFill>
                  <a:srgbClr val="FF6F0D"/>
                </a:solidFill>
                <a:latin typeface="Lato"/>
                <a:ea typeface="Lato"/>
                <a:cs typeface="Lato"/>
                <a:sym typeface="Lato"/>
              </a:rPr>
              <a:t>HASHSET</a:t>
            </a:r>
            <a:endParaRPr sz="4400" b="1" u="sng" dirty="0">
              <a:solidFill>
                <a:srgbClr val="FF6F0D"/>
              </a:solidFill>
              <a:latin typeface="Lato"/>
              <a:ea typeface="Lato"/>
              <a:cs typeface="Lato"/>
              <a:sym typeface="Lato"/>
            </a:endParaRPr>
          </a:p>
        </p:txBody>
      </p:sp>
      <p:sp>
        <p:nvSpPr>
          <p:cNvPr id="211" name="Google Shape;211;p24"/>
          <p:cNvSpPr txBox="1"/>
          <p:nvPr/>
        </p:nvSpPr>
        <p:spPr>
          <a:xfrm>
            <a:off x="451599" y="1265255"/>
            <a:ext cx="8150534" cy="3339345"/>
          </a:xfrm>
          <a:prstGeom prst="rect">
            <a:avLst/>
          </a:prstGeom>
          <a:noFill/>
          <a:ln w="28575">
            <a:noFill/>
          </a:ln>
        </p:spPr>
        <p:txBody>
          <a:bodyPr spcFirstLastPara="1" wrap="square" lIns="91425" tIns="91425" rIns="91425" bIns="91425" anchor="t" anchorCtr="0">
            <a:spAutoFit/>
          </a:bodyPr>
          <a:lstStyle/>
          <a:p>
            <a:pPr marL="0" lvl="0" indent="0" algn="just" rtl="0">
              <a:spcBef>
                <a:spcPts val="0"/>
              </a:spcBef>
              <a:spcAft>
                <a:spcPts val="600"/>
              </a:spcAft>
              <a:buNone/>
            </a:pPr>
            <a:r>
              <a:rPr lang="es-419" sz="2000" b="1" dirty="0">
                <a:solidFill>
                  <a:srgbClr val="FFFF00"/>
                </a:solidFill>
                <a:latin typeface="Lato"/>
                <a:ea typeface="Lato"/>
                <a:cs typeface="Lato"/>
                <a:sym typeface="Lato"/>
              </a:rPr>
              <a:t>=&gt;</a:t>
            </a:r>
            <a:r>
              <a:rPr lang="es-419" sz="2000" dirty="0">
                <a:solidFill>
                  <a:schemeClr val="bg1"/>
                </a:solidFill>
                <a:latin typeface="Lato"/>
                <a:ea typeface="Lato"/>
                <a:cs typeface="Lato"/>
                <a:sym typeface="Lato"/>
              </a:rPr>
              <a:t>  Los objetos se almacenan en una </a:t>
            </a:r>
            <a:r>
              <a:rPr lang="es-419" sz="2000" b="1" dirty="0">
                <a:solidFill>
                  <a:srgbClr val="00B0F0"/>
                </a:solidFill>
                <a:latin typeface="Lato"/>
                <a:ea typeface="Lato"/>
                <a:cs typeface="Lato"/>
                <a:sym typeface="Lato"/>
              </a:rPr>
              <a:t>TABLA DE DISPERSIÓN (HASH)</a:t>
            </a:r>
            <a:r>
              <a:rPr lang="es-419" sz="2000" b="1" dirty="0">
                <a:solidFill>
                  <a:schemeClr val="bg1"/>
                </a:solidFill>
                <a:latin typeface="Lato"/>
                <a:ea typeface="Lato"/>
                <a:cs typeface="Lato"/>
                <a:sym typeface="Lato"/>
              </a:rPr>
              <a:t>: </a:t>
            </a:r>
            <a:r>
              <a:rPr lang="es-ES" sz="2000" dirty="0">
                <a:solidFill>
                  <a:schemeClr val="bg1"/>
                </a:solidFill>
                <a:latin typeface="Lato"/>
                <a:ea typeface="Lato"/>
                <a:cs typeface="Lato"/>
              </a:rPr>
              <a:t>Almacena los elementos utilizando el código </a:t>
            </a:r>
            <a:r>
              <a:rPr lang="es-ES" sz="2000" dirty="0" err="1">
                <a:solidFill>
                  <a:schemeClr val="bg1"/>
                </a:solidFill>
                <a:latin typeface="Lato"/>
                <a:ea typeface="Lato"/>
                <a:cs typeface="Lato"/>
              </a:rPr>
              <a:t>hashCode</a:t>
            </a:r>
            <a:r>
              <a:rPr lang="es-ES" sz="2000" dirty="0">
                <a:solidFill>
                  <a:schemeClr val="bg1"/>
                </a:solidFill>
                <a:latin typeface="Lato"/>
                <a:ea typeface="Lato"/>
                <a:cs typeface="Lato"/>
              </a:rPr>
              <a:t> para determinar en qué parte de la tabla se almacenará el elemento.</a:t>
            </a:r>
            <a:endParaRPr lang="es-419" sz="2000" dirty="0">
              <a:solidFill>
                <a:schemeClr val="bg1"/>
              </a:solidFill>
              <a:latin typeface="Lato"/>
              <a:ea typeface="Lato"/>
              <a:cs typeface="Lato"/>
              <a:sym typeface="Lato"/>
            </a:endParaRPr>
          </a:p>
          <a:p>
            <a:pPr marL="0" lvl="0" indent="0" algn="just" rtl="0">
              <a:spcBef>
                <a:spcPts val="0"/>
              </a:spcBef>
              <a:spcAft>
                <a:spcPts val="600"/>
              </a:spcAft>
              <a:buNone/>
            </a:pPr>
            <a:endParaRPr lang="es-419" sz="2000" b="1" dirty="0">
              <a:solidFill>
                <a:schemeClr val="bg1"/>
              </a:solidFill>
              <a:latin typeface="Lato"/>
              <a:ea typeface="Lato"/>
              <a:cs typeface="Lato"/>
              <a:sym typeface="Lato"/>
            </a:endParaRPr>
          </a:p>
          <a:p>
            <a:pPr marL="0" lvl="0" indent="0" algn="just" rtl="0">
              <a:spcBef>
                <a:spcPts val="0"/>
              </a:spcBef>
              <a:spcAft>
                <a:spcPts val="600"/>
              </a:spcAft>
              <a:buNone/>
            </a:pPr>
            <a:r>
              <a:rPr lang="es-419" sz="2000" b="1" dirty="0">
                <a:solidFill>
                  <a:srgbClr val="FFFF00"/>
                </a:solidFill>
                <a:latin typeface="Lato"/>
                <a:ea typeface="Lato"/>
                <a:cs typeface="Lato"/>
                <a:sym typeface="Lato"/>
              </a:rPr>
              <a:t>=&gt;</a:t>
            </a:r>
            <a:r>
              <a:rPr lang="es-419" sz="2000" b="1" dirty="0">
                <a:solidFill>
                  <a:schemeClr val="bg1"/>
                </a:solidFill>
                <a:latin typeface="Lato"/>
                <a:ea typeface="Lato"/>
                <a:cs typeface="Lato"/>
                <a:sym typeface="Lato"/>
              </a:rPr>
              <a:t> </a:t>
            </a:r>
            <a:r>
              <a:rPr lang="es-419" sz="2000" dirty="0">
                <a:solidFill>
                  <a:schemeClr val="bg1"/>
                </a:solidFill>
                <a:latin typeface="Lato"/>
                <a:ea typeface="Lato"/>
                <a:cs typeface="Lato"/>
                <a:sym typeface="Lato"/>
              </a:rPr>
              <a:t> La</a:t>
            </a:r>
            <a:r>
              <a:rPr lang="es-419" sz="2000" b="1" dirty="0">
                <a:solidFill>
                  <a:schemeClr val="bg1"/>
                </a:solidFill>
                <a:latin typeface="Lato"/>
                <a:ea typeface="Lato"/>
                <a:cs typeface="Lato"/>
                <a:sym typeface="Lato"/>
              </a:rPr>
              <a: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clase </a:t>
            </a:r>
            <a:r>
              <a:rPr lang="es-ES" sz="2000" dirty="0" err="1">
                <a:solidFill>
                  <a:schemeClr val="bg1"/>
                </a:solidFill>
                <a:latin typeface="Lato" panose="020F0502020204030203" pitchFamily="34" charset="0"/>
                <a:ea typeface="Lato" panose="020F0502020204030203" pitchFamily="34" charset="0"/>
                <a:cs typeface="Lato" panose="020F0502020204030203" pitchFamily="34" charset="0"/>
              </a:rPr>
              <a:t>HashSet</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delega casi todas sus funcionalidades a un mapa interno </a:t>
            </a: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a:t>
            </a:r>
            <a:r>
              <a:rPr lang="es-ES" sz="2000" b="1" u="sng" dirty="0" err="1">
                <a:solidFill>
                  <a:srgbClr val="00B0F0"/>
                </a:solidFill>
                <a:latin typeface="Lato" panose="020F0502020204030203" pitchFamily="34" charset="0"/>
                <a:ea typeface="Lato" panose="020F0502020204030203" pitchFamily="34" charset="0"/>
                <a:cs typeface="Lato" panose="020F0502020204030203" pitchFamily="34" charset="0"/>
              </a:rPr>
              <a:t>HashMap</a:t>
            </a: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a:t>
            </a:r>
            <a:endParaRPr lang="es-ES" sz="2000" dirty="0">
              <a:solidFill>
                <a:schemeClr val="bg1"/>
              </a:solidFill>
              <a:latin typeface="Lato" panose="020F0502020204030203" pitchFamily="34" charset="0"/>
              <a:ea typeface="Lato" panose="020F0502020204030203" pitchFamily="34" charset="0"/>
              <a:cs typeface="Lato" panose="020F0502020204030203" pitchFamily="34" charset="0"/>
            </a:endParaRPr>
          </a:p>
          <a:p>
            <a:pPr marL="0" lvl="0" indent="0" algn="just" rtl="0">
              <a:spcBef>
                <a:spcPts val="0"/>
              </a:spcBef>
              <a:spcAft>
                <a:spcPts val="600"/>
              </a:spcAft>
              <a:buNone/>
            </a:pPr>
            <a:endParaRPr lang="es-AR" sz="2000" dirty="0">
              <a:solidFill>
                <a:schemeClr val="bg1"/>
              </a:solidFill>
              <a:latin typeface="Lato"/>
              <a:ea typeface="Lato"/>
              <a:cs typeface="Lato"/>
              <a:sym typeface="Lato"/>
            </a:endParaRPr>
          </a:p>
          <a:p>
            <a:pPr marL="0" lvl="0" indent="0" algn="just" rtl="0">
              <a:spcBef>
                <a:spcPts val="0"/>
              </a:spcBef>
              <a:spcAft>
                <a:spcPts val="600"/>
              </a:spcAft>
              <a:buNone/>
            </a:pPr>
            <a:r>
              <a:rPr lang="es-AR" sz="2000" b="1" dirty="0">
                <a:solidFill>
                  <a:srgbClr val="FFFF00"/>
                </a:solidFill>
                <a:latin typeface="Lato"/>
                <a:ea typeface="Lato"/>
                <a:cs typeface="Lato"/>
                <a:sym typeface="Lato"/>
              </a:rPr>
              <a:t>=&gt;</a:t>
            </a:r>
            <a:r>
              <a:rPr lang="es-AR" sz="2000" dirty="0">
                <a:solidFill>
                  <a:schemeClr val="bg1"/>
                </a:solidFill>
                <a:latin typeface="Lato"/>
                <a:ea typeface="Lato"/>
                <a:cs typeface="Lato"/>
                <a:sym typeface="Lato"/>
              </a:rPr>
              <a:t> </a:t>
            </a:r>
            <a:r>
              <a:rPr lang="es-AR" sz="2000" b="1" dirty="0">
                <a:solidFill>
                  <a:srgbClr val="00B0F0"/>
                </a:solidFill>
                <a:latin typeface="Lato"/>
                <a:ea typeface="Lato"/>
                <a:cs typeface="Lato"/>
                <a:sym typeface="Lato"/>
              </a:rPr>
              <a:t>LOS ELEMENTOS NO NECESARIAMENTE SE MOSTRARÁN EN EL ORDEN EN QUE SE INSERTARON.</a:t>
            </a:r>
            <a:endParaRPr lang="es-AR" sz="2000" b="1" u="sng" dirty="0">
              <a:solidFill>
                <a:srgbClr val="FFFF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559475" y="332580"/>
            <a:ext cx="8308557"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err="1">
                <a:solidFill>
                  <a:srgbClr val="FF6F0D"/>
                </a:solidFill>
                <a:latin typeface="Lato"/>
                <a:ea typeface="Lato"/>
                <a:cs typeface="Lato"/>
                <a:sym typeface="Lato"/>
              </a:rPr>
              <a:t>HashSet</a:t>
            </a:r>
            <a:r>
              <a:rPr lang="es-419" sz="2800" b="1" u="sng" dirty="0">
                <a:solidFill>
                  <a:srgbClr val="FF6F0D"/>
                </a:solidFill>
                <a:latin typeface="Lato"/>
                <a:ea typeface="Lato"/>
                <a:cs typeface="Lato"/>
                <a:sym typeface="Lato"/>
              </a:rPr>
              <a:t>: “Costo” de las operaciones </a:t>
            </a:r>
            <a:endParaRPr sz="2800" b="1" u="sng" dirty="0">
              <a:solidFill>
                <a:srgbClr val="FF6F0D"/>
              </a:solidFill>
              <a:latin typeface="Lato"/>
              <a:ea typeface="Lato"/>
              <a:cs typeface="Lato"/>
              <a:sym typeface="Lato"/>
            </a:endParaRPr>
          </a:p>
        </p:txBody>
      </p:sp>
      <p:sp>
        <p:nvSpPr>
          <p:cNvPr id="211" name="Google Shape;211;p24"/>
          <p:cNvSpPr txBox="1"/>
          <p:nvPr/>
        </p:nvSpPr>
        <p:spPr>
          <a:xfrm>
            <a:off x="466164" y="1440797"/>
            <a:ext cx="8211671" cy="3262401"/>
          </a:xfrm>
          <a:prstGeom prst="rect">
            <a:avLst/>
          </a:prstGeom>
          <a:noFill/>
          <a:ln w="28575">
            <a:noFill/>
          </a:ln>
        </p:spPr>
        <p:txBody>
          <a:bodyPr spcFirstLastPara="1" wrap="square" lIns="91425" tIns="91425" rIns="91425" bIns="91425" anchor="t" anchorCtr="0">
            <a:spAutoFit/>
          </a:bodyPr>
          <a:lstStyle/>
          <a:p>
            <a:pPr algn="just">
              <a:spcAft>
                <a:spcPts val="2400"/>
              </a:spcAft>
            </a:pPr>
            <a:r>
              <a:rPr lang="es-419" sz="18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a:t>
            </a:r>
            <a:r>
              <a:rPr lang="es-419" sz="1800" dirty="0">
                <a:solidFill>
                  <a:schemeClr val="bg1"/>
                </a:solidFill>
                <a:latin typeface="Lato" panose="020F0502020204030203" pitchFamily="34" charset="0"/>
                <a:ea typeface="Lato" panose="020F0502020204030203" pitchFamily="34" charset="0"/>
                <a:cs typeface="Lato" panose="020F0502020204030203" pitchFamily="34" charset="0"/>
                <a:sym typeface="Lato"/>
              </a:rPr>
              <a:t> </a:t>
            </a:r>
            <a:r>
              <a:rPr lang="es-AR" sz="1800" b="1" dirty="0">
                <a:solidFill>
                  <a:srgbClr val="FFFF00"/>
                </a:solidFill>
                <a:latin typeface="Lato"/>
                <a:ea typeface="Lato"/>
                <a:cs typeface="Lato"/>
                <a:sym typeface="Lato"/>
              </a:rPr>
              <a:t>La tabla hash hace que sea </a:t>
            </a:r>
            <a:r>
              <a:rPr lang="es-AR" sz="1800" b="1" dirty="0">
                <a:solidFill>
                  <a:srgbClr val="69FFCC"/>
                </a:solidFill>
                <a:latin typeface="Lato"/>
                <a:ea typeface="Lato"/>
                <a:cs typeface="Lato"/>
                <a:sym typeface="Lato"/>
              </a:rPr>
              <a:t>mas eficiente que </a:t>
            </a:r>
            <a:r>
              <a:rPr lang="es-AR" sz="1800" b="1" dirty="0">
                <a:solidFill>
                  <a:srgbClr val="FFFF00"/>
                </a:solidFill>
                <a:latin typeface="Lato"/>
                <a:ea typeface="Lato"/>
                <a:cs typeface="Lato"/>
                <a:sym typeface="Lato"/>
              </a:rPr>
              <a:t>las clases que implementan la interfaz </a:t>
            </a:r>
            <a:r>
              <a:rPr lang="es-AR" sz="1800" b="1" dirty="0" err="1">
                <a:solidFill>
                  <a:srgbClr val="69FFCC"/>
                </a:solidFill>
                <a:latin typeface="Lato"/>
                <a:ea typeface="Lato"/>
                <a:cs typeface="Lato"/>
                <a:sym typeface="Lato"/>
              </a:rPr>
              <a:t>List</a:t>
            </a:r>
            <a:r>
              <a:rPr lang="es-AR" sz="1800" b="1" dirty="0">
                <a:solidFill>
                  <a:srgbClr val="00B0F0"/>
                </a:solidFill>
                <a:latin typeface="Lato"/>
                <a:ea typeface="Lato"/>
                <a:cs typeface="Lato"/>
                <a:sym typeface="Lato"/>
              </a:rPr>
              <a:t> </a:t>
            </a:r>
            <a:r>
              <a:rPr lang="es-419" sz="1800" b="1" dirty="0">
                <a:solidFill>
                  <a:srgbClr val="FFFF00"/>
                </a:solidFill>
                <a:latin typeface="Lato" panose="020F0502020204030203" pitchFamily="34" charset="0"/>
                <a:ea typeface="Lato" panose="020F0502020204030203" pitchFamily="34" charset="0"/>
                <a:cs typeface="Lato" panose="020F0502020204030203" pitchFamily="34" charset="0"/>
                <a:sym typeface="Lato"/>
              </a:rPr>
              <a:t>en las operaciones de </a:t>
            </a:r>
            <a:r>
              <a:rPr lang="es-419" sz="1800" b="1" dirty="0">
                <a:solidFill>
                  <a:srgbClr val="69FFCC"/>
                </a:solidFill>
                <a:latin typeface="Lato" panose="020F0502020204030203" pitchFamily="34" charset="0"/>
                <a:ea typeface="Lato" panose="020F0502020204030203" pitchFamily="34" charset="0"/>
                <a:cs typeface="Lato" panose="020F0502020204030203" pitchFamily="34" charset="0"/>
              </a:rPr>
              <a:t>inserción, borrado y búsqueda</a:t>
            </a:r>
            <a:r>
              <a:rPr lang="es-419" sz="18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419" sz="1800" b="1" dirty="0">
                <a:solidFill>
                  <a:srgbClr val="FFFF00"/>
                </a:solidFill>
                <a:latin typeface="Lato" panose="020F0502020204030203" pitchFamily="34" charset="0"/>
                <a:ea typeface="Lato" panose="020F0502020204030203" pitchFamily="34" charset="0"/>
                <a:cs typeface="Lato" panose="020F0502020204030203" pitchFamily="34" charset="0"/>
              </a:rPr>
              <a:t>ya que p</a:t>
            </a:r>
            <a:r>
              <a:rPr lang="es-419" sz="1800" b="1" dirty="0">
                <a:solidFill>
                  <a:srgbClr val="FFFF00"/>
                </a:solidFill>
                <a:latin typeface="Lato" panose="020F0502020204030203" pitchFamily="34" charset="0"/>
                <a:ea typeface="Lato" panose="020F0502020204030203" pitchFamily="34" charset="0"/>
                <a:cs typeface="Lato" panose="020F0502020204030203" pitchFamily="34" charset="0"/>
                <a:sym typeface="Lato"/>
              </a:rPr>
              <a:t>roporciona tiempos constantes </a:t>
            </a:r>
            <a:r>
              <a:rPr lang="es-419" sz="1800" dirty="0">
                <a:solidFill>
                  <a:schemeClr val="bg1"/>
                </a:solidFill>
                <a:latin typeface="Lato" panose="020F0502020204030203" pitchFamily="34" charset="0"/>
                <a:ea typeface="Lato" panose="020F0502020204030203" pitchFamily="34" charset="0"/>
                <a:cs typeface="Lato" panose="020F0502020204030203" pitchFamily="34" charset="0"/>
                <a:sym typeface="Lato"/>
              </a:rPr>
              <a:t>(siempre y cuando la función hash disperse de forma correcta los elementos dentro de la tabla hash). </a:t>
            </a:r>
          </a:p>
          <a:p>
            <a:pPr algn="just"/>
            <a:r>
              <a:rPr lang="es-419" sz="18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a:t>
            </a:r>
            <a:r>
              <a:rPr lang="es-419" sz="1800" b="1" dirty="0">
                <a:solidFill>
                  <a:srgbClr val="FFFF00"/>
                </a:solidFill>
                <a:latin typeface="Lato" panose="020F0502020204030203" pitchFamily="34" charset="0"/>
                <a:ea typeface="Lato" panose="020F0502020204030203" pitchFamily="34" charset="0"/>
                <a:cs typeface="Lato" panose="020F0502020204030203" pitchFamily="34" charset="0"/>
                <a:sym typeface="Lato"/>
              </a:rPr>
              <a:t>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La iteración </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a través de sus elementos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es menos eficiente que en </a:t>
            </a:r>
            <a:r>
              <a:rPr lang="es-ES" sz="1800" b="1" dirty="0" err="1">
                <a:solidFill>
                  <a:srgbClr val="FFFF00"/>
                </a:solidFill>
                <a:latin typeface="Lato" panose="020F0502020204030203" pitchFamily="34" charset="0"/>
                <a:ea typeface="Lato" panose="020F0502020204030203" pitchFamily="34" charset="0"/>
                <a:cs typeface="Lato" panose="020F0502020204030203" pitchFamily="34" charset="0"/>
              </a:rPr>
              <a:t>List</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ya que necesitará recorrer todas las entradas de la tabla de dispersión </a:t>
            </a:r>
            <a:r>
              <a:rPr lang="es-AR" sz="1800" dirty="0">
                <a:solidFill>
                  <a:schemeClr val="bg1"/>
                </a:solidFill>
                <a:latin typeface="Lato" panose="020F0502020204030203" pitchFamily="34" charset="0"/>
                <a:ea typeface="Lato" panose="020F0502020204030203" pitchFamily="34" charset="0"/>
                <a:cs typeface="Lato" panose="020F0502020204030203" pitchFamily="34" charset="0"/>
              </a:rPr>
              <a:t>(se debe recorrer TODA la tabla hash, toda la estructura interna que tiene varios "</a:t>
            </a:r>
            <a:r>
              <a:rPr lang="es-AR" sz="1800" dirty="0" err="1">
                <a:solidFill>
                  <a:schemeClr val="bg1"/>
                </a:solidFill>
                <a:latin typeface="Lato" panose="020F0502020204030203" pitchFamily="34" charset="0"/>
                <a:ea typeface="Lato" panose="020F0502020204030203" pitchFamily="34" charset="0"/>
                <a:cs typeface="Lato" panose="020F0502020204030203" pitchFamily="34" charset="0"/>
              </a:rPr>
              <a:t>buckets</a:t>
            </a:r>
            <a:r>
              <a:rPr lang="es-AR" sz="1800" dirty="0">
                <a:solidFill>
                  <a:schemeClr val="bg1"/>
                </a:solidFill>
                <a:latin typeface="Lato" panose="020F0502020204030203" pitchFamily="34" charset="0"/>
                <a:ea typeface="Lato" panose="020F0502020204030203" pitchFamily="34" charset="0"/>
                <a:cs typeface="Lato" panose="020F0502020204030203" pitchFamily="34" charset="0"/>
              </a:rPr>
              <a:t>", aunque algunos estén vacíos)</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lo que hará que el coste esté en función tanto del número de elementos insertados en el conjunto como del número de entradas de la tabla.</a:t>
            </a:r>
            <a:endParaRPr sz="1800" b="1" dirty="0">
              <a:solidFill>
                <a:srgbClr val="FFFF00"/>
              </a:solidFill>
              <a:latin typeface="Lato" panose="020F0502020204030203" pitchFamily="34" charset="0"/>
              <a:ea typeface="Lato" panose="020F0502020204030203" pitchFamily="34" charset="0"/>
              <a:cs typeface="Lato" panose="020F0502020204030203" pitchFamily="34" charset="0"/>
              <a:sym typeface="Lato"/>
            </a:endParaRPr>
          </a:p>
        </p:txBody>
      </p:sp>
    </p:spTree>
    <p:extLst>
      <p:ext uri="{BB962C8B-B14F-4D97-AF65-F5344CB8AC3E}">
        <p14:creationId xmlns:p14="http://schemas.microsoft.com/office/powerpoint/2010/main" val="1889161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 name="Google Shape;210;p24"/>
          <p:cNvSpPr txBox="1"/>
          <p:nvPr/>
        </p:nvSpPr>
        <p:spPr>
          <a:xfrm>
            <a:off x="603977" y="83601"/>
            <a:ext cx="8073858"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err="1">
                <a:solidFill>
                  <a:srgbClr val="FF6F0D"/>
                </a:solidFill>
                <a:latin typeface="Lato"/>
                <a:ea typeface="Lato"/>
                <a:cs typeface="Lato"/>
                <a:sym typeface="Lato"/>
              </a:rPr>
              <a:t>HashSet</a:t>
            </a:r>
            <a:r>
              <a:rPr lang="es-419" sz="2800" b="1" u="sng" dirty="0">
                <a:solidFill>
                  <a:srgbClr val="FF6F0D"/>
                </a:solidFill>
                <a:latin typeface="Lato"/>
                <a:ea typeface="Lato"/>
                <a:cs typeface="Lato"/>
                <a:sym typeface="Lato"/>
              </a:rPr>
              <a:t>: Creación y manejo.</a:t>
            </a:r>
            <a:endParaRPr sz="2800" b="1" u="sng" dirty="0">
              <a:solidFill>
                <a:srgbClr val="FF6F0D"/>
              </a:solidFill>
              <a:latin typeface="Lato"/>
              <a:ea typeface="Lato"/>
              <a:cs typeface="Lato"/>
              <a:sym typeface="Lato"/>
            </a:endParaRPr>
          </a:p>
        </p:txBody>
      </p:sp>
      <p:sp>
        <p:nvSpPr>
          <p:cNvPr id="4" name="Google Shape;210;p24">
            <a:extLst>
              <a:ext uri="{FF2B5EF4-FFF2-40B4-BE49-F238E27FC236}">
                <a16:creationId xmlns:a16="http://schemas.microsoft.com/office/drawing/2014/main" id="{2793A4C8-192A-AFF9-A46E-C6C291490209}"/>
              </a:ext>
            </a:extLst>
          </p:cNvPr>
          <p:cNvSpPr txBox="1"/>
          <p:nvPr/>
        </p:nvSpPr>
        <p:spPr>
          <a:xfrm>
            <a:off x="603977" y="987065"/>
            <a:ext cx="8269089" cy="39395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2200" b="1" u="sng" dirty="0">
                <a:solidFill>
                  <a:srgbClr val="FFFF00"/>
                </a:solidFill>
                <a:latin typeface="Lato"/>
                <a:ea typeface="Lato"/>
                <a:cs typeface="Lato"/>
                <a:sym typeface="Lato"/>
              </a:rPr>
              <a:t>Creación</a:t>
            </a:r>
            <a:r>
              <a:rPr lang="es-419" sz="2400" b="1" dirty="0">
                <a:solidFill>
                  <a:srgbClr val="FFFF00"/>
                </a:solidFill>
                <a:latin typeface="Lato"/>
                <a:ea typeface="Lato"/>
                <a:cs typeface="Lato"/>
                <a:sym typeface="Lato"/>
              </a:rPr>
              <a:t>:</a:t>
            </a:r>
          </a:p>
          <a:p>
            <a:pPr marL="0" lvl="0" indent="0" algn="ctr" rtl="0">
              <a:spcBef>
                <a:spcPts val="0"/>
              </a:spcBef>
              <a:spcAft>
                <a:spcPts val="0"/>
              </a:spcAft>
              <a:buNone/>
            </a:pPr>
            <a:r>
              <a:rPr lang="es-419" sz="1800" b="1" i="1" dirty="0">
                <a:solidFill>
                  <a:srgbClr val="FF66CC"/>
                </a:solidFill>
                <a:latin typeface="Lato"/>
                <a:ea typeface="Lato"/>
                <a:cs typeface="Lato"/>
                <a:sym typeface="Lato"/>
              </a:rPr>
              <a:t>HashSet &lt;String&gt; hs = new HashSet &lt;&gt;();</a:t>
            </a:r>
          </a:p>
          <a:p>
            <a:pPr marL="0" lvl="0" indent="0" algn="l" rtl="0">
              <a:spcBef>
                <a:spcPts val="0"/>
              </a:spcBef>
              <a:spcAft>
                <a:spcPts val="0"/>
              </a:spcAft>
              <a:buNone/>
            </a:pPr>
            <a:endParaRPr lang="es-419" sz="1800" dirty="0">
              <a:solidFill>
                <a:schemeClr val="bg1"/>
              </a:solidFill>
              <a:latin typeface="Lato"/>
              <a:ea typeface="Lato"/>
              <a:cs typeface="Lato"/>
              <a:sym typeface="Lato"/>
            </a:endParaRPr>
          </a:p>
          <a:p>
            <a:pPr marL="0" lvl="0" indent="0" algn="l" rtl="0">
              <a:spcBef>
                <a:spcPts val="0"/>
              </a:spcBef>
              <a:spcAft>
                <a:spcPts val="0"/>
              </a:spcAft>
              <a:buNone/>
            </a:pPr>
            <a:r>
              <a:rPr lang="es-419" sz="1800" dirty="0">
                <a:solidFill>
                  <a:schemeClr val="bg1"/>
                </a:solidFill>
                <a:latin typeface="Lato"/>
                <a:ea typeface="Lato"/>
                <a:cs typeface="Lato"/>
                <a:sym typeface="Lato"/>
              </a:rPr>
              <a:t>Al llamar al constructor, internamente el método lo que hace es crear el </a:t>
            </a:r>
            <a:r>
              <a:rPr lang="es-419" sz="1800" dirty="0" err="1">
                <a:solidFill>
                  <a:schemeClr val="bg1"/>
                </a:solidFill>
                <a:latin typeface="Lato"/>
                <a:ea typeface="Lato"/>
                <a:cs typeface="Lato"/>
                <a:sym typeface="Lato"/>
              </a:rPr>
              <a:t>HashMap</a:t>
            </a:r>
            <a:endParaRPr lang="es-419" sz="1800" dirty="0">
              <a:solidFill>
                <a:schemeClr val="bg1"/>
              </a:solidFill>
              <a:latin typeface="Lato"/>
              <a:ea typeface="Lato"/>
              <a:cs typeface="Lato"/>
              <a:sym typeface="Lato"/>
            </a:endParaRPr>
          </a:p>
          <a:p>
            <a:pPr marL="0" lvl="0" indent="0" algn="l" rtl="0">
              <a:spcBef>
                <a:spcPts val="0"/>
              </a:spcBef>
              <a:spcAft>
                <a:spcPts val="0"/>
              </a:spcAft>
              <a:buNone/>
            </a:pPr>
            <a:endParaRPr lang="es-419" sz="1800" dirty="0">
              <a:solidFill>
                <a:schemeClr val="bg1"/>
              </a:solidFill>
              <a:latin typeface="Lato"/>
              <a:ea typeface="Lato"/>
              <a:cs typeface="Lato"/>
              <a:sym typeface="Lato"/>
            </a:endParaRPr>
          </a:p>
          <a:p>
            <a:pPr marL="0" lvl="0" indent="0" algn="l" rtl="0">
              <a:spcBef>
                <a:spcPts val="0"/>
              </a:spcBef>
              <a:spcAft>
                <a:spcPts val="0"/>
              </a:spcAft>
              <a:buNone/>
            </a:pPr>
            <a:r>
              <a:rPr lang="es-419" sz="2200" b="1" u="sng" dirty="0">
                <a:solidFill>
                  <a:srgbClr val="FFFF00"/>
                </a:solidFill>
                <a:latin typeface="Lato"/>
                <a:ea typeface="Lato"/>
                <a:cs typeface="Lato"/>
                <a:sym typeface="Lato"/>
              </a:rPr>
              <a:t>Agregar elementos</a:t>
            </a:r>
            <a:r>
              <a:rPr lang="es-419" sz="2200" b="1" dirty="0">
                <a:solidFill>
                  <a:srgbClr val="FFFF00"/>
                </a:solidFill>
                <a:latin typeface="Lato"/>
                <a:ea typeface="Lato"/>
                <a:cs typeface="Lato"/>
                <a:sym typeface="Lato"/>
              </a:rPr>
              <a:t>:  </a:t>
            </a:r>
            <a:r>
              <a:rPr lang="es-419" sz="1800" i="1" dirty="0">
                <a:solidFill>
                  <a:srgbClr val="FF66CC"/>
                </a:solidFill>
                <a:latin typeface="Lato"/>
                <a:ea typeface="Lato"/>
                <a:cs typeface="Lato"/>
                <a:sym typeface="Lato"/>
              </a:rPr>
              <a:t>    </a:t>
            </a:r>
            <a:r>
              <a:rPr lang="es-419" sz="1800" b="1" i="1" dirty="0" err="1">
                <a:solidFill>
                  <a:srgbClr val="FF66CC"/>
                </a:solidFill>
                <a:latin typeface="Lato"/>
                <a:ea typeface="Lato"/>
                <a:cs typeface="Lato"/>
                <a:sym typeface="Lato"/>
              </a:rPr>
              <a:t>hs.add</a:t>
            </a:r>
            <a:r>
              <a:rPr lang="es-419" sz="1800" b="1" i="1" dirty="0">
                <a:solidFill>
                  <a:srgbClr val="FF66CC"/>
                </a:solidFill>
                <a:latin typeface="Lato"/>
                <a:ea typeface="Lato"/>
                <a:cs typeface="Lato"/>
                <a:sym typeface="Lato"/>
              </a:rPr>
              <a:t> (“Lionel”);</a:t>
            </a:r>
          </a:p>
          <a:p>
            <a:pPr algn="just"/>
            <a:r>
              <a:rPr lang="es-419" sz="1800" b="1" i="1" dirty="0">
                <a:solidFill>
                  <a:srgbClr val="FF66CC"/>
                </a:solidFill>
                <a:latin typeface="Lato"/>
                <a:ea typeface="Lato"/>
                <a:cs typeface="Lato"/>
                <a:sym typeface="Lato"/>
              </a:rPr>
              <a:t>                                                       hs.add (“Dibu”);</a:t>
            </a:r>
          </a:p>
          <a:p>
            <a:endParaRPr lang="es-419" sz="1800" dirty="0">
              <a:solidFill>
                <a:schemeClr val="bg1"/>
              </a:solidFill>
              <a:latin typeface="Lato"/>
              <a:ea typeface="Lato"/>
              <a:cs typeface="Lato"/>
              <a:sym typeface="Lato"/>
            </a:endParaRPr>
          </a:p>
          <a:p>
            <a:r>
              <a:rPr lang="es-419" sz="1800" dirty="0">
                <a:solidFill>
                  <a:schemeClr val="bg1"/>
                </a:solidFill>
                <a:latin typeface="Lato"/>
                <a:ea typeface="Lato"/>
                <a:cs typeface="Lato"/>
                <a:sym typeface="Lato"/>
              </a:rPr>
              <a:t>Si el objeto a agregar YA estaba agregado, no lo agrega y add retorna false.</a:t>
            </a:r>
          </a:p>
          <a:p>
            <a:r>
              <a:rPr lang="es-419" sz="1800" dirty="0">
                <a:solidFill>
                  <a:schemeClr val="bg1"/>
                </a:solidFill>
                <a:latin typeface="Lato"/>
                <a:ea typeface="Lato"/>
                <a:cs typeface="Lato"/>
                <a:sym typeface="Lato"/>
              </a:rPr>
              <a:t>Si el objeto a agregar NO estaba agregado, lo agrega y retorna true.</a:t>
            </a:r>
          </a:p>
          <a:p>
            <a:r>
              <a:rPr lang="es-419" sz="1800" dirty="0">
                <a:solidFill>
                  <a:schemeClr val="bg1"/>
                </a:solidFill>
                <a:latin typeface="Lato"/>
                <a:ea typeface="Lato"/>
                <a:cs typeface="Lato"/>
                <a:sym typeface="Lato"/>
              </a:rPr>
              <a:t>En consecuencia, es recomendable evaluar el retorno de </a:t>
            </a:r>
            <a:r>
              <a:rPr lang="es-419" sz="1800" dirty="0" err="1">
                <a:solidFill>
                  <a:schemeClr val="bg1"/>
                </a:solidFill>
                <a:latin typeface="Lato"/>
                <a:ea typeface="Lato"/>
                <a:cs typeface="Lato"/>
                <a:sym typeface="Lato"/>
              </a:rPr>
              <a:t>add</a:t>
            </a:r>
            <a:r>
              <a:rPr lang="es-419" sz="1800" dirty="0">
                <a:solidFill>
                  <a:schemeClr val="bg1"/>
                </a:solidFill>
                <a:latin typeface="Lato"/>
                <a:ea typeface="Lato"/>
                <a:cs typeface="Lato"/>
                <a:sym typeface="Lato"/>
              </a:rPr>
              <a:t> para ver si se agregó o no.</a:t>
            </a:r>
            <a:endParaRPr sz="2400" b="1" dirty="0">
              <a:solidFill>
                <a:srgbClr val="FFFF00"/>
              </a:solidFill>
              <a:latin typeface="Lato"/>
              <a:ea typeface="Lato"/>
              <a:cs typeface="Lato"/>
              <a:sym typeface="Lato"/>
            </a:endParaRPr>
          </a:p>
        </p:txBody>
      </p:sp>
    </p:spTree>
    <p:extLst>
      <p:ext uri="{BB962C8B-B14F-4D97-AF65-F5344CB8AC3E}">
        <p14:creationId xmlns:p14="http://schemas.microsoft.com/office/powerpoint/2010/main" val="1854259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p:nvPr/>
        </p:nvSpPr>
        <p:spPr>
          <a:xfrm>
            <a:off x="228025" y="653758"/>
            <a:ext cx="1588821"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2400" b="1" dirty="0">
                <a:solidFill>
                  <a:srgbClr val="FFFF00"/>
                </a:solidFill>
                <a:latin typeface="Lato"/>
                <a:ea typeface="Lato"/>
                <a:cs typeface="Lato"/>
                <a:sym typeface="Lato"/>
              </a:rPr>
              <a:t>Ejemplos de manejo de HashSet</a:t>
            </a:r>
            <a:endParaRPr sz="2400" b="1" dirty="0">
              <a:solidFill>
                <a:srgbClr val="FFFF00"/>
              </a:solidFill>
              <a:latin typeface="Lato"/>
              <a:ea typeface="Lato"/>
              <a:cs typeface="Lato"/>
              <a:sym typeface="Lato"/>
            </a:endParaRPr>
          </a:p>
        </p:txBody>
      </p:sp>
      <p:pic>
        <p:nvPicPr>
          <p:cNvPr id="2" name="Imagen 1">
            <a:extLst>
              <a:ext uri="{FF2B5EF4-FFF2-40B4-BE49-F238E27FC236}">
                <a16:creationId xmlns:a16="http://schemas.microsoft.com/office/drawing/2014/main" id="{86912EAD-9A6C-90C0-75A5-CD0CF8296E1C}"/>
              </a:ext>
            </a:extLst>
          </p:cNvPr>
          <p:cNvPicPr>
            <a:picLocks noChangeAspect="1"/>
          </p:cNvPicPr>
          <p:nvPr/>
        </p:nvPicPr>
        <p:blipFill>
          <a:blip r:embed="rId3"/>
          <a:stretch>
            <a:fillRect/>
          </a:stretch>
        </p:blipFill>
        <p:spPr>
          <a:xfrm>
            <a:off x="1963271" y="0"/>
            <a:ext cx="7180729"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729553" y="359806"/>
            <a:ext cx="7936045"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4400" b="1" u="sng" dirty="0">
                <a:solidFill>
                  <a:srgbClr val="FF6F0D"/>
                </a:solidFill>
                <a:latin typeface="Lato"/>
                <a:ea typeface="Lato"/>
                <a:cs typeface="Lato"/>
                <a:sym typeface="Lato"/>
              </a:rPr>
              <a:t>LINKEDHASHSET</a:t>
            </a:r>
          </a:p>
        </p:txBody>
      </p:sp>
      <p:sp>
        <p:nvSpPr>
          <p:cNvPr id="211" name="Google Shape;211;p24"/>
          <p:cNvSpPr txBox="1"/>
          <p:nvPr/>
        </p:nvSpPr>
        <p:spPr>
          <a:xfrm>
            <a:off x="444604" y="1594938"/>
            <a:ext cx="8505945" cy="3262401"/>
          </a:xfrm>
          <a:prstGeom prst="rect">
            <a:avLst/>
          </a:prstGeom>
          <a:noFill/>
          <a:ln>
            <a:noFill/>
          </a:ln>
        </p:spPr>
        <p:txBody>
          <a:bodyPr spcFirstLastPara="1" wrap="square" lIns="91425" tIns="91425" rIns="91425" bIns="91425" anchor="t" anchorCtr="0">
            <a:spAutoFit/>
          </a:bodyPr>
          <a:lstStyle/>
          <a:p>
            <a:pPr marL="0" lvl="0" indent="0" algn="ctr" rtl="0">
              <a:lnSpc>
                <a:spcPct val="200000"/>
              </a:lnSpc>
              <a:spcBef>
                <a:spcPts val="0"/>
              </a:spcBef>
              <a:spcAft>
                <a:spcPts val="0"/>
              </a:spcAft>
              <a:buNone/>
            </a:pPr>
            <a:r>
              <a:rPr lang="es-ES" sz="2000" dirty="0">
                <a:solidFill>
                  <a:srgbClr val="FFFF00"/>
                </a:solidFill>
                <a:latin typeface="Lato" panose="020F0502020204030203" pitchFamily="34" charset="0"/>
                <a:ea typeface="Lato" panose="020F0502020204030203" pitchFamily="34" charset="0"/>
                <a:cs typeface="Lato" panose="020F0502020204030203" pitchFamily="34" charset="0"/>
              </a:rPr>
              <a:t>ES</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b="1" u="sng" dirty="0">
                <a:solidFill>
                  <a:srgbClr val="FFFF00"/>
                </a:solidFill>
                <a:latin typeface="Lato" panose="020F0502020204030203" pitchFamily="34" charset="0"/>
                <a:ea typeface="Lato" panose="020F0502020204030203" pitchFamily="34" charset="0"/>
                <a:cs typeface="Lato" panose="020F0502020204030203" pitchFamily="34" charset="0"/>
              </a:rPr>
              <a:t>SIMILAR A HASHSET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PERO </a:t>
            </a:r>
          </a:p>
          <a:p>
            <a:pPr marL="0" lvl="0" indent="0" algn="ctr" rtl="0">
              <a:lnSpc>
                <a:spcPct val="200000"/>
              </a:lnSpc>
              <a:spcBef>
                <a:spcPts val="0"/>
              </a:spcBef>
              <a:spcAft>
                <a:spcPts val="0"/>
              </a:spcAft>
              <a:buNone/>
            </a:pP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LA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TABLA HASH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DE DISPERSIÓN </a:t>
            </a:r>
          </a:p>
          <a:p>
            <a:pPr marL="0" lvl="0" indent="0" algn="ctr" rtl="0">
              <a:lnSpc>
                <a:spcPct val="200000"/>
              </a:lnSpc>
              <a:spcBef>
                <a:spcPts val="0"/>
              </a:spcBef>
              <a:spcAft>
                <a:spcPts val="0"/>
              </a:spcAft>
              <a:buNone/>
            </a:pP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SE MANEJA CON UNA </a:t>
            </a:r>
            <a:r>
              <a:rPr lang="es-ES" sz="2000" b="1" u="sng" dirty="0">
                <a:solidFill>
                  <a:srgbClr val="69FFCC"/>
                </a:solidFill>
                <a:latin typeface="Lato" panose="020F0502020204030203" pitchFamily="34" charset="0"/>
                <a:ea typeface="Lato" panose="020F0502020204030203" pitchFamily="34" charset="0"/>
                <a:cs typeface="Lato" panose="020F0502020204030203" pitchFamily="34" charset="0"/>
              </a:rPr>
              <a:t>LISTA DOBLEMENTE ENLAZADA</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a:t>
            </a:r>
          </a:p>
          <a:p>
            <a:pPr marL="0" lvl="0" indent="0" algn="ctr" rtl="0">
              <a:lnSpc>
                <a:spcPct val="200000"/>
              </a:lnSpc>
              <a:spcBef>
                <a:spcPts val="0"/>
              </a:spcBef>
              <a:spcAft>
                <a:spcPts val="0"/>
              </a:spcAft>
              <a:buNone/>
            </a:pP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LO QUE HACE QUE </a:t>
            </a:r>
          </a:p>
          <a:p>
            <a:pPr marL="0" lvl="0" indent="0" algn="ctr" rtl="0">
              <a:lnSpc>
                <a:spcPct val="200000"/>
              </a:lnSpc>
              <a:spcBef>
                <a:spcPts val="0"/>
              </a:spcBef>
              <a:spcAft>
                <a:spcPts val="0"/>
              </a:spcAft>
              <a:buNone/>
            </a:pPr>
            <a:r>
              <a:rPr lang="es-ES" sz="2000" b="1" u="sng" dirty="0">
                <a:solidFill>
                  <a:srgbClr val="FF66CC"/>
                </a:solidFill>
                <a:latin typeface="Lato" panose="020F0502020204030203" pitchFamily="34" charset="0"/>
                <a:ea typeface="Lato" panose="020F0502020204030203" pitchFamily="34" charset="0"/>
                <a:cs typeface="Lato" panose="020F0502020204030203" pitchFamily="34" charset="0"/>
              </a:rPr>
              <a:t>LOS ELEMENTOS CONSERVEN EL ORDEN DE INSERCIÓN </a:t>
            </a:r>
            <a:endParaRPr lang="es-ES" sz="2000" b="1" u="sng" dirty="0">
              <a:solidFill>
                <a:srgbClr val="FF66CC"/>
              </a:solidFill>
              <a:latin typeface="Lato" panose="020F0502020204030203" pitchFamily="34" charset="0"/>
              <a:ea typeface="Lato" panose="020F0502020204030203" pitchFamily="34" charset="0"/>
              <a:cs typeface="Lato" panose="020F0502020204030203" pitchFamily="34" charset="0"/>
              <a:sym typeface="Lato"/>
            </a:endParaRPr>
          </a:p>
        </p:txBody>
      </p:sp>
    </p:spTree>
    <p:extLst>
      <p:ext uri="{BB962C8B-B14F-4D97-AF65-F5344CB8AC3E}">
        <p14:creationId xmlns:p14="http://schemas.microsoft.com/office/powerpoint/2010/main" val="4050837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467846" y="201416"/>
            <a:ext cx="8208307"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err="1">
                <a:solidFill>
                  <a:srgbClr val="FF6F0D"/>
                </a:solidFill>
                <a:latin typeface="Lato"/>
                <a:ea typeface="Lato"/>
                <a:cs typeface="Lato"/>
                <a:sym typeface="Lato"/>
              </a:rPr>
              <a:t>LinkedHashSet</a:t>
            </a:r>
            <a:r>
              <a:rPr lang="es-419" sz="2800" b="1" u="sng" dirty="0">
                <a:solidFill>
                  <a:srgbClr val="FF6F0D"/>
                </a:solidFill>
                <a:latin typeface="Lato"/>
                <a:ea typeface="Lato"/>
                <a:cs typeface="Lato"/>
                <a:sym typeface="Lato"/>
              </a:rPr>
              <a:t>: “Costo” de las operaciones.</a:t>
            </a:r>
            <a:endParaRPr sz="2800" b="1" u="sng" dirty="0">
              <a:solidFill>
                <a:srgbClr val="FF6F0D"/>
              </a:solidFill>
              <a:latin typeface="Lato"/>
              <a:ea typeface="Lato"/>
              <a:cs typeface="Lato"/>
              <a:sym typeface="Lato"/>
            </a:endParaRPr>
          </a:p>
        </p:txBody>
      </p:sp>
      <p:sp>
        <p:nvSpPr>
          <p:cNvPr id="211" name="Google Shape;211;p24"/>
          <p:cNvSpPr txBox="1"/>
          <p:nvPr/>
        </p:nvSpPr>
        <p:spPr>
          <a:xfrm>
            <a:off x="451598" y="1157824"/>
            <a:ext cx="8208307" cy="3985676"/>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s-ES" sz="19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900" dirty="0">
                <a:solidFill>
                  <a:schemeClr val="bg1"/>
                </a:solidFill>
                <a:latin typeface="Lato" panose="020F0502020204030203" pitchFamily="34" charset="0"/>
                <a:ea typeface="Lato" panose="020F0502020204030203" pitchFamily="34" charset="0"/>
                <a:cs typeface="Lato" panose="020F0502020204030203" pitchFamily="34" charset="0"/>
              </a:rPr>
              <a:t> Los elementos que se inserten tendrán enlaces entre ellos. Por lo tanto, las operaciones básicas seguirán teniendo coste constante, con un ligero costo adicional por la carga extra de tener que gestionar los enlaces. </a:t>
            </a:r>
          </a:p>
          <a:p>
            <a:pPr marL="0" lvl="0" indent="0" algn="just" rtl="0">
              <a:spcBef>
                <a:spcPts val="0"/>
              </a:spcBef>
              <a:spcAft>
                <a:spcPts val="0"/>
              </a:spcAft>
              <a:buNone/>
            </a:pPr>
            <a:endParaRPr lang="es-ES" sz="1900" dirty="0">
              <a:solidFill>
                <a:schemeClr val="bg1"/>
              </a:solidFill>
              <a:latin typeface="Lato" panose="020F0502020204030203" pitchFamily="34" charset="0"/>
              <a:ea typeface="Lato" panose="020F0502020204030203" pitchFamily="34" charset="0"/>
              <a:cs typeface="Lato" panose="020F0502020204030203" pitchFamily="34" charset="0"/>
            </a:endParaRPr>
          </a:p>
          <a:p>
            <a:pPr lvl="0" algn="just"/>
            <a:r>
              <a:rPr lang="es-ES" sz="1900" b="1" dirty="0">
                <a:solidFill>
                  <a:srgbClr val="00B0F0"/>
                </a:solidFill>
                <a:latin typeface="Lato" panose="020F0502020204030203" pitchFamily="34" charset="0"/>
                <a:ea typeface="Lato" panose="020F0502020204030203" pitchFamily="34" charset="0"/>
                <a:cs typeface="Lato" panose="020F0502020204030203" pitchFamily="34" charset="0"/>
              </a:rPr>
              <a:t>=&gt; </a:t>
            </a:r>
            <a:r>
              <a:rPr lang="es-ES" sz="1900" dirty="0">
                <a:solidFill>
                  <a:schemeClr val="bg1"/>
                </a:solidFill>
                <a:latin typeface="Lato" panose="020F0502020204030203" pitchFamily="34" charset="0"/>
                <a:ea typeface="Lato" panose="020F0502020204030203" pitchFamily="34" charset="0"/>
                <a:cs typeface="Lato" panose="020F0502020204030203" pitchFamily="34" charset="0"/>
              </a:rPr>
              <a:t>Sin embargo, </a:t>
            </a:r>
            <a:r>
              <a:rPr lang="es-ES" sz="1900" b="1" dirty="0">
                <a:solidFill>
                  <a:srgbClr val="FFFF00"/>
                </a:solidFill>
                <a:latin typeface="Lato" panose="020F0502020204030203" pitchFamily="34" charset="0"/>
                <a:ea typeface="Lato" panose="020F0502020204030203" pitchFamily="34" charset="0"/>
                <a:cs typeface="Lato" panose="020F0502020204030203" pitchFamily="34" charset="0"/>
              </a:rPr>
              <a:t>habrá una mejora en la iteración</a:t>
            </a:r>
            <a:r>
              <a:rPr lang="es-ES" sz="1900" dirty="0">
                <a:solidFill>
                  <a:schemeClr val="bg1"/>
                </a:solidFill>
                <a:latin typeface="Lato" panose="020F0502020204030203" pitchFamily="34" charset="0"/>
                <a:ea typeface="Lato" panose="020F0502020204030203" pitchFamily="34" charset="0"/>
                <a:cs typeface="Lato" panose="020F0502020204030203" pitchFamily="34" charset="0"/>
              </a:rPr>
              <a:t>, ya que al establecerse enlaces entre los elementos no tendremos que recorrer TODAS las entradas de la tabla, sólo se recorren las que tienen elementos, por lo tanto el coste sólo estará en función del número real de elementos insertados. </a:t>
            </a:r>
          </a:p>
          <a:p>
            <a:pPr lvl="0" algn="just"/>
            <a:endParaRPr lang="es-ES" sz="1900" dirty="0">
              <a:solidFill>
                <a:schemeClr val="bg1"/>
              </a:solidFill>
              <a:latin typeface="Lato" panose="020F0502020204030203" pitchFamily="34" charset="0"/>
              <a:ea typeface="Lato" panose="020F0502020204030203" pitchFamily="34" charset="0"/>
              <a:cs typeface="Lato" panose="020F0502020204030203" pitchFamily="34" charset="0"/>
            </a:endParaRPr>
          </a:p>
          <a:p>
            <a:pPr marL="0" lvl="0" indent="0" algn="just" rtl="0">
              <a:spcBef>
                <a:spcPts val="0"/>
              </a:spcBef>
              <a:spcAft>
                <a:spcPts val="0"/>
              </a:spcAft>
              <a:buNone/>
            </a:pPr>
            <a:r>
              <a:rPr lang="es-ES" sz="19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900" dirty="0">
                <a:solidFill>
                  <a:schemeClr val="bg1"/>
                </a:solidFill>
                <a:latin typeface="Lato" panose="020F0502020204030203" pitchFamily="34" charset="0"/>
                <a:ea typeface="Lato" panose="020F0502020204030203" pitchFamily="34" charset="0"/>
                <a:cs typeface="Lato" panose="020F0502020204030203" pitchFamily="34" charset="0"/>
              </a:rPr>
              <a:t> A diferencia del </a:t>
            </a:r>
            <a:r>
              <a:rPr lang="es-ES" sz="1900" dirty="0" err="1">
                <a:solidFill>
                  <a:schemeClr val="bg1"/>
                </a:solidFill>
                <a:latin typeface="Lato" panose="020F0502020204030203" pitchFamily="34" charset="0"/>
                <a:ea typeface="Lato" panose="020F0502020204030203" pitchFamily="34" charset="0"/>
                <a:cs typeface="Lato" panose="020F0502020204030203" pitchFamily="34" charset="0"/>
              </a:rPr>
              <a:t>HashSet</a:t>
            </a:r>
            <a:r>
              <a:rPr lang="es-ES" sz="1900" dirty="0">
                <a:solidFill>
                  <a:schemeClr val="bg1"/>
                </a:solidFill>
                <a:latin typeface="Lato" panose="020F0502020204030203" pitchFamily="34" charset="0"/>
                <a:ea typeface="Lato" panose="020F0502020204030203" pitchFamily="34" charset="0"/>
                <a:cs typeface="Lato" panose="020F0502020204030203" pitchFamily="34" charset="0"/>
              </a:rPr>
              <a:t>, acá, al haber enlaces entre los elementos, estos enlaces definirán el orden en el que se insertaron en el conjunto, por lo que </a:t>
            </a:r>
            <a:r>
              <a:rPr lang="es-ES" sz="1900" b="1" u="sng" dirty="0">
                <a:solidFill>
                  <a:srgbClr val="00B0F0"/>
                </a:solidFill>
                <a:latin typeface="Lato" panose="020F0502020204030203" pitchFamily="34" charset="0"/>
                <a:ea typeface="Lato" panose="020F0502020204030203" pitchFamily="34" charset="0"/>
                <a:cs typeface="Lato" panose="020F0502020204030203" pitchFamily="34" charset="0"/>
              </a:rPr>
              <a:t>EL ORDEN DE ITERACIÓN SERÁ EL MISMO ORDEN EN EL QUE SE INSERTARON. </a:t>
            </a:r>
            <a:endParaRPr sz="1900" b="1" u="sng" dirty="0">
              <a:solidFill>
                <a:srgbClr val="00B0F0"/>
              </a:solidFill>
              <a:latin typeface="Lato" panose="020F0502020204030203" pitchFamily="34" charset="0"/>
              <a:ea typeface="Lato" panose="020F0502020204030203" pitchFamily="34" charset="0"/>
              <a:cs typeface="Lato" panose="020F0502020204030203" pitchFamily="34" charset="0"/>
              <a:sym typeface="Lato"/>
            </a:endParaRPr>
          </a:p>
        </p:txBody>
      </p:sp>
    </p:spTree>
    <p:extLst>
      <p:ext uri="{BB962C8B-B14F-4D97-AF65-F5344CB8AC3E}">
        <p14:creationId xmlns:p14="http://schemas.microsoft.com/office/powerpoint/2010/main" val="71889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510988" y="0"/>
            <a:ext cx="7987552"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200" b="1" dirty="0">
                <a:solidFill>
                  <a:srgbClr val="FFFF00"/>
                </a:solidFill>
                <a:latin typeface="Lato"/>
                <a:ea typeface="Lato"/>
                <a:cs typeface="Lato"/>
                <a:sym typeface="Lato"/>
              </a:rPr>
              <a:t>Ejemplo de manejo de LinkedHashSet</a:t>
            </a:r>
            <a:endParaRPr sz="2200" b="1" dirty="0">
              <a:solidFill>
                <a:srgbClr val="FFFF00"/>
              </a:solidFill>
              <a:latin typeface="Lato"/>
              <a:ea typeface="Lato"/>
              <a:cs typeface="Lato"/>
              <a:sym typeface="Lato"/>
            </a:endParaRPr>
          </a:p>
        </p:txBody>
      </p:sp>
      <p:pic>
        <p:nvPicPr>
          <p:cNvPr id="2" name="Imagen 1">
            <a:extLst>
              <a:ext uri="{FF2B5EF4-FFF2-40B4-BE49-F238E27FC236}">
                <a16:creationId xmlns:a16="http://schemas.microsoft.com/office/drawing/2014/main" id="{32CF6DB5-B025-62BB-AEA6-E7EB48BA9CF3}"/>
              </a:ext>
            </a:extLst>
          </p:cNvPr>
          <p:cNvPicPr>
            <a:picLocks noChangeAspect="1"/>
          </p:cNvPicPr>
          <p:nvPr/>
        </p:nvPicPr>
        <p:blipFill>
          <a:blip r:embed="rId3"/>
          <a:stretch>
            <a:fillRect/>
          </a:stretch>
        </p:blipFill>
        <p:spPr>
          <a:xfrm>
            <a:off x="510988" y="523191"/>
            <a:ext cx="8357112" cy="4620310"/>
          </a:xfrm>
          <a:prstGeom prst="rect">
            <a:avLst/>
          </a:prstGeom>
        </p:spPr>
      </p:pic>
    </p:spTree>
    <p:extLst>
      <p:ext uri="{BB962C8B-B14F-4D97-AF65-F5344CB8AC3E}">
        <p14:creationId xmlns:p14="http://schemas.microsoft.com/office/powerpoint/2010/main" val="1973578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415741" y="101600"/>
            <a:ext cx="6800847" cy="86174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4400" b="1" u="sng" dirty="0">
                <a:solidFill>
                  <a:srgbClr val="FF6F0D"/>
                </a:solidFill>
                <a:latin typeface="Lato"/>
                <a:ea typeface="Lato"/>
                <a:cs typeface="Lato"/>
                <a:sym typeface="Lato"/>
              </a:rPr>
              <a:t>TREESET</a:t>
            </a:r>
            <a:endParaRPr sz="4400" b="1" u="sng" dirty="0">
              <a:solidFill>
                <a:srgbClr val="FF6F0D"/>
              </a:solidFill>
              <a:latin typeface="Lato"/>
              <a:ea typeface="Lato"/>
              <a:cs typeface="Lato"/>
              <a:sym typeface="Lato"/>
            </a:endParaRPr>
          </a:p>
        </p:txBody>
      </p:sp>
      <p:sp>
        <p:nvSpPr>
          <p:cNvPr id="211" name="Google Shape;211;p24"/>
          <p:cNvSpPr txBox="1"/>
          <p:nvPr/>
        </p:nvSpPr>
        <p:spPr>
          <a:xfrm>
            <a:off x="334063" y="1287056"/>
            <a:ext cx="8319867" cy="3477845"/>
          </a:xfrm>
          <a:prstGeom prst="rect">
            <a:avLst/>
          </a:prstGeom>
          <a:noFill/>
          <a:ln>
            <a:noFill/>
          </a:ln>
        </p:spPr>
        <p:txBody>
          <a:bodyPr spcFirstLastPara="1" wrap="square" lIns="91425" tIns="91425" rIns="91425" bIns="91425" anchor="t" anchorCtr="0">
            <a:spAutoFit/>
          </a:bodyPr>
          <a:lstStyle/>
          <a:p>
            <a:pPr marL="0" lvl="0" indent="0" algn="just" rtl="0">
              <a:spcBef>
                <a:spcPts val="0"/>
              </a:spcBef>
              <a:buNone/>
            </a:pPr>
            <a:r>
              <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a:t>
            </a:r>
            <a:r>
              <a:rPr lang="es-419" sz="2000" dirty="0">
                <a:solidFill>
                  <a:schemeClr val="bg1"/>
                </a:solidFill>
                <a:latin typeface="Lato" panose="020F0502020204030203" pitchFamily="34" charset="0"/>
                <a:ea typeface="Lato" panose="020F0502020204030203" pitchFamily="34" charset="0"/>
                <a:cs typeface="Lato" panose="020F0502020204030203" pitchFamily="34" charset="0"/>
                <a:sym typeface="Lato"/>
              </a:rPr>
              <a: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Almacena los elementos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UTILIZANDO UN </a:t>
            </a:r>
            <a:r>
              <a:rPr lang="es-ES" sz="2000" b="1" u="sng" dirty="0">
                <a:solidFill>
                  <a:srgbClr val="00B0F0"/>
                </a:solidFill>
                <a:latin typeface="Lato" panose="020F0502020204030203" pitchFamily="34" charset="0"/>
                <a:ea typeface="Lato" panose="020F0502020204030203" pitchFamily="34" charset="0"/>
                <a:cs typeface="Lato" panose="020F0502020204030203" pitchFamily="34" charset="0"/>
              </a:rPr>
              <a:t>ARBOL</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Y </a:t>
            </a:r>
          </a:p>
          <a:p>
            <a:pPr marL="0" lvl="0" indent="0" algn="just" rtl="0">
              <a:spcBef>
                <a:spcPts val="0"/>
              </a:spcBef>
              <a:buNone/>
            </a:pP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      ORDENÁNDOLOS EN FUNCIÓN DE SUS VALORES</a:t>
            </a:r>
            <a:r>
              <a:rPr lang="es-ES" sz="2000" dirty="0">
                <a:solidFill>
                  <a:srgbClr val="00B0F0"/>
                </a:solidFill>
                <a:latin typeface="Lato" panose="020F0502020204030203" pitchFamily="34" charset="0"/>
                <a:ea typeface="Lato" panose="020F0502020204030203" pitchFamily="34" charset="0"/>
                <a:cs typeface="Lato" panose="020F0502020204030203" pitchFamily="34" charset="0"/>
              </a:rPr>
              <a:t>. </a:t>
            </a:r>
          </a:p>
          <a:p>
            <a:pPr marL="0" lvl="0" indent="0" algn="just" rtl="0">
              <a:spcBef>
                <a:spcPts val="0"/>
              </a:spcBef>
              <a:buNone/>
            </a:pPr>
            <a:endParaRPr lang="es-ES" sz="2000" b="1" dirty="0">
              <a:solidFill>
                <a:srgbClr val="00B0F0"/>
              </a:solidFill>
              <a:latin typeface="Lato" panose="020F0502020204030203" pitchFamily="34" charset="0"/>
              <a:ea typeface="Lato" panose="020F0502020204030203" pitchFamily="34" charset="0"/>
              <a:cs typeface="Lato" panose="020F0502020204030203" pitchFamily="34" charset="0"/>
            </a:endParaRPr>
          </a:p>
          <a:p>
            <a:pPr marL="0" lvl="0" indent="0" algn="just" rtl="0">
              <a:spcBef>
                <a:spcPts val="0"/>
              </a:spcBef>
              <a:buNone/>
            </a:pPr>
            <a:r>
              <a:rPr lang="es-ES" sz="20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Los elementos a almacenar que pertenezcan a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clases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propias</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del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sistema</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String</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etc</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se ordenan de acuerdo a su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orden natural</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y a las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clases propias </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se les deberá </a:t>
            </a:r>
            <a:r>
              <a:rPr lang="es-ES" sz="2000" b="1" dirty="0">
                <a:solidFill>
                  <a:srgbClr val="69FFCC"/>
                </a:solidFill>
                <a:latin typeface="Lato" panose="020F0502020204030203" pitchFamily="34" charset="0"/>
                <a:ea typeface="Lato" panose="020F0502020204030203" pitchFamily="34" charset="0"/>
                <a:cs typeface="Lato" panose="020F0502020204030203" pitchFamily="34" charset="0"/>
              </a:rPr>
              <a:t>implementar la interfaz Comparable</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para que puedan ordenarse</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 </a:t>
            </a:r>
          </a:p>
          <a:p>
            <a:pPr marL="0" lvl="0" indent="0" algn="just" rtl="0">
              <a:spcBef>
                <a:spcPts val="0"/>
              </a:spcBef>
              <a:buNone/>
            </a:pPr>
            <a:endParaRPr lang="es-ES" sz="2000" dirty="0">
              <a:solidFill>
                <a:schemeClr val="bg1"/>
              </a:solidFill>
              <a:latin typeface="Lato" panose="020F0502020204030203" pitchFamily="34" charset="0"/>
              <a:ea typeface="Lato" panose="020F0502020204030203" pitchFamily="34" charset="0"/>
              <a:cs typeface="Lato" panose="020F0502020204030203" pitchFamily="34" charset="0"/>
            </a:endParaRPr>
          </a:p>
          <a:p>
            <a:pPr algn="just"/>
            <a:r>
              <a:rPr lang="es-ES" sz="1800" b="1" dirty="0">
                <a:solidFill>
                  <a:srgbClr val="00B0F0"/>
                </a:solidFill>
                <a:latin typeface="Lato" panose="020F0502020204030203" pitchFamily="34" charset="0"/>
                <a:ea typeface="Lato" panose="020F0502020204030203" pitchFamily="34" charset="0"/>
                <a:cs typeface="Lato" panose="020F0502020204030203" pitchFamily="34" charset="0"/>
              </a:rPr>
              <a:t>=&gt;</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Al ser ordenado y utilizar un árbol rojo-negro (un árbol binario de búsqueda balanceado), es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más lento que </a:t>
            </a:r>
            <a:r>
              <a:rPr lang="es-ES" sz="1800" b="1" dirty="0" err="1">
                <a:solidFill>
                  <a:srgbClr val="FFFF00"/>
                </a:solidFill>
                <a:latin typeface="Lato" panose="020F0502020204030203" pitchFamily="34" charset="0"/>
                <a:ea typeface="Lato" panose="020F0502020204030203" pitchFamily="34" charset="0"/>
                <a:cs typeface="Lato" panose="020F0502020204030203" pitchFamily="34" charset="0"/>
              </a:rPr>
              <a:t>HashSet</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 para</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las operaciones de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inserción o eliminación</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pero es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más rápido en</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 las operaciones de </a:t>
            </a:r>
            <a:r>
              <a:rPr lang="es-ES" sz="1800" b="1" dirty="0">
                <a:solidFill>
                  <a:srgbClr val="FFFF00"/>
                </a:solidFill>
                <a:latin typeface="Lato" panose="020F0502020204030203" pitchFamily="34" charset="0"/>
                <a:ea typeface="Lato" panose="020F0502020204030203" pitchFamily="34" charset="0"/>
                <a:cs typeface="Lato" panose="020F0502020204030203" pitchFamily="34" charset="0"/>
              </a:rPr>
              <a:t>búsqueda</a:t>
            </a:r>
            <a:r>
              <a:rPr lang="es-ES" sz="1800" dirty="0">
                <a:solidFill>
                  <a:schemeClr val="bg1"/>
                </a:solidFill>
                <a:latin typeface="Lato" panose="020F0502020204030203" pitchFamily="34" charset="0"/>
                <a:ea typeface="Lato" panose="020F0502020204030203" pitchFamily="34" charset="0"/>
                <a:cs typeface="Lato" panose="020F0502020204030203" pitchFamily="34" charset="0"/>
              </a:rPr>
              <a:t>.</a:t>
            </a:r>
            <a:endParaRPr sz="1800" dirty="0">
              <a:solidFill>
                <a:schemeClr val="bg1"/>
              </a:solidFill>
              <a:latin typeface="Lato" panose="020F0502020204030203" pitchFamily="34" charset="0"/>
              <a:ea typeface="Lato" panose="020F0502020204030203" pitchFamily="34" charset="0"/>
              <a:cs typeface="Lato" panose="020F0502020204030203" pitchFamily="34" charset="0"/>
              <a:sym typeface="Lato"/>
            </a:endParaRPr>
          </a:p>
        </p:txBody>
      </p:sp>
      <p:pic>
        <p:nvPicPr>
          <p:cNvPr id="2" name="Imagen 1">
            <a:extLst>
              <a:ext uri="{FF2B5EF4-FFF2-40B4-BE49-F238E27FC236}">
                <a16:creationId xmlns:a16="http://schemas.microsoft.com/office/drawing/2014/main" id="{5DDF4497-30B6-A526-2136-4BBEAF267B86}"/>
              </a:ext>
            </a:extLst>
          </p:cNvPr>
          <p:cNvPicPr>
            <a:picLocks noChangeAspect="1"/>
          </p:cNvPicPr>
          <p:nvPr/>
        </p:nvPicPr>
        <p:blipFill>
          <a:blip r:embed="rId3"/>
          <a:stretch>
            <a:fillRect/>
          </a:stretch>
        </p:blipFill>
        <p:spPr>
          <a:xfrm>
            <a:off x="7341762" y="101600"/>
            <a:ext cx="1689349" cy="1503831"/>
          </a:xfrm>
          <a:prstGeom prst="rect">
            <a:avLst/>
          </a:prstGeom>
        </p:spPr>
      </p:pic>
    </p:spTree>
    <p:extLst>
      <p:ext uri="{BB962C8B-B14F-4D97-AF65-F5344CB8AC3E}">
        <p14:creationId xmlns:p14="http://schemas.microsoft.com/office/powerpoint/2010/main" val="2155911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643489" y="100161"/>
            <a:ext cx="8123992"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err="1">
                <a:solidFill>
                  <a:srgbClr val="FF6F0D"/>
                </a:solidFill>
                <a:latin typeface="Lato"/>
                <a:ea typeface="Lato"/>
                <a:cs typeface="Lato"/>
                <a:sym typeface="Lato"/>
              </a:rPr>
              <a:t>TreeSet</a:t>
            </a:r>
            <a:r>
              <a:rPr lang="es-419" sz="2800" b="1" u="sng" dirty="0">
                <a:solidFill>
                  <a:srgbClr val="FF6F0D"/>
                </a:solidFill>
                <a:latin typeface="Lato"/>
                <a:ea typeface="Lato"/>
                <a:cs typeface="Lato"/>
                <a:sym typeface="Lato"/>
              </a:rPr>
              <a:t>: Principales Métodos</a:t>
            </a:r>
            <a:endParaRPr sz="2800" b="1" u="sng" dirty="0">
              <a:solidFill>
                <a:srgbClr val="FF6F0D"/>
              </a:solidFill>
              <a:latin typeface="Lato"/>
              <a:ea typeface="Lato"/>
              <a:cs typeface="Lato"/>
              <a:sym typeface="Lato"/>
            </a:endParaRPr>
          </a:p>
        </p:txBody>
      </p:sp>
      <p:sp>
        <p:nvSpPr>
          <p:cNvPr id="211" name="Google Shape;211;p24"/>
          <p:cNvSpPr txBox="1"/>
          <p:nvPr/>
        </p:nvSpPr>
        <p:spPr>
          <a:xfrm>
            <a:off x="643488" y="851151"/>
            <a:ext cx="8123993" cy="4185731"/>
          </a:xfrm>
          <a:prstGeom prst="rect">
            <a:avLst/>
          </a:prstGeom>
          <a:noFill/>
          <a:ln>
            <a:noFill/>
          </a:ln>
        </p:spPr>
        <p:txBody>
          <a:bodyPr spcFirstLastPara="1" wrap="square" lIns="91425" tIns="91425" rIns="91425" bIns="91425" anchor="t" anchorCtr="0">
            <a:spAutoFit/>
          </a:bodyPr>
          <a:lstStyle/>
          <a:p>
            <a:pPr marL="0" lvl="0" indent="0" algn="just" rtl="0">
              <a:spcAft>
                <a:spcPts val="0"/>
              </a:spcAft>
              <a:buNone/>
            </a:pPr>
            <a:r>
              <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a:t>
            </a:r>
            <a:r>
              <a:rPr lang="es-419" sz="2000" b="1" dirty="0">
                <a:solidFill>
                  <a:srgbClr val="FFFF00"/>
                </a:solidFill>
                <a:latin typeface="Lato" panose="020F0502020204030203" pitchFamily="34" charset="0"/>
                <a:ea typeface="Lato" panose="020F0502020204030203" pitchFamily="34" charset="0"/>
                <a:cs typeface="Lato" panose="020F0502020204030203" pitchFamily="34" charset="0"/>
                <a:sym typeface="Lato"/>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higher</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o):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Devuelve el elemento menor de la colección, pero que sea mayor que el elemento dado. Devuelve NULL si no existe el elemento dado. EJ : </a:t>
            </a:r>
            <a:r>
              <a:rPr lang="es-ES" sz="2000" b="1" i="1" dirty="0" err="1">
                <a:solidFill>
                  <a:srgbClr val="69FFCC"/>
                </a:solidFill>
                <a:latin typeface="Lato" panose="020F0502020204030203" pitchFamily="34" charset="0"/>
                <a:ea typeface="Lato" panose="020F0502020204030203" pitchFamily="34" charset="0"/>
                <a:cs typeface="Lato" panose="020F0502020204030203" pitchFamily="34" charset="0"/>
                <a:sym typeface="Consolas"/>
              </a:rPr>
              <a:t>ts.higher</a:t>
            </a:r>
            <a:r>
              <a:rPr lang="es-ES" sz="2000" b="1" i="1" dirty="0">
                <a:solidFill>
                  <a:srgbClr val="69FFCC"/>
                </a:solidFill>
                <a:latin typeface="Lato" panose="020F0502020204030203" pitchFamily="34" charset="0"/>
                <a:ea typeface="Lato" panose="020F0502020204030203" pitchFamily="34" charset="0"/>
                <a:cs typeface="Lato" panose="020F0502020204030203" pitchFamily="34" charset="0"/>
                <a:sym typeface="Consolas"/>
              </a:rPr>
              <a:t>(new </a:t>
            </a:r>
            <a:r>
              <a:rPr lang="es-ES" sz="2000" b="1" i="1" dirty="0" err="1">
                <a:solidFill>
                  <a:srgbClr val="69FFCC"/>
                </a:solidFill>
                <a:latin typeface="Lato" panose="020F0502020204030203" pitchFamily="34" charset="0"/>
                <a:ea typeface="Lato" panose="020F0502020204030203" pitchFamily="34" charset="0"/>
                <a:cs typeface="Lato" panose="020F0502020204030203" pitchFamily="34" charset="0"/>
                <a:sym typeface="Consolas"/>
              </a:rPr>
              <a:t>Integer</a:t>
            </a:r>
            <a:r>
              <a:rPr lang="es-ES" sz="2000" b="1" i="1" dirty="0">
                <a:solidFill>
                  <a:srgbClr val="69FFCC"/>
                </a:solidFill>
                <a:latin typeface="Lato" panose="020F0502020204030203" pitchFamily="34" charset="0"/>
                <a:ea typeface="Lato" panose="020F0502020204030203" pitchFamily="34" charset="0"/>
                <a:cs typeface="Lato" panose="020F0502020204030203" pitchFamily="34" charset="0"/>
                <a:sym typeface="Consolas"/>
              </a:rPr>
              <a:t>(5)); //6 {1-10}</a:t>
            </a:r>
          </a:p>
          <a:p>
            <a:pPr marL="0" lvl="0" indent="0" algn="just" rtl="0">
              <a:spcAft>
                <a:spcPts val="0"/>
              </a:spcAft>
              <a:buNone/>
            </a:pPr>
            <a:endPar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endParaRPr>
          </a:p>
          <a:p>
            <a:pPr algn="just"/>
            <a:r>
              <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lower</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o):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Devuelve el elemento mayor de la colección, pero que sea menor que el elemento dado. Devuelve NULL si no existe el elemento dado.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sym typeface="Consolas"/>
              </a:rPr>
              <a:t>EJ</a:t>
            </a:r>
            <a:r>
              <a:rPr lang="es-ES" sz="2000" i="1" dirty="0">
                <a:solidFill>
                  <a:schemeClr val="bg1"/>
                </a:solidFill>
                <a:latin typeface="Lato" panose="020F0502020204030203" pitchFamily="34" charset="0"/>
                <a:ea typeface="Lato" panose="020F0502020204030203" pitchFamily="34" charset="0"/>
                <a:cs typeface="Lato" panose="020F0502020204030203" pitchFamily="34" charset="0"/>
                <a:sym typeface="Consolas"/>
              </a:rPr>
              <a:t>:</a:t>
            </a:r>
            <a:r>
              <a:rPr lang="es-ES" sz="2000" i="1" dirty="0">
                <a:solidFill>
                  <a:srgbClr val="FF66CC"/>
                </a:solidFill>
                <a:latin typeface="Lato" panose="020F0502020204030203" pitchFamily="34" charset="0"/>
                <a:ea typeface="Lato" panose="020F0502020204030203" pitchFamily="34" charset="0"/>
                <a:cs typeface="Lato" panose="020F0502020204030203" pitchFamily="34" charset="0"/>
                <a:sym typeface="Consolas"/>
              </a:rPr>
              <a:t> </a:t>
            </a:r>
            <a:r>
              <a:rPr lang="es-ES" sz="2000" b="1" i="1" dirty="0" err="1">
                <a:solidFill>
                  <a:srgbClr val="69FFCC"/>
                </a:solidFill>
                <a:latin typeface="Lato" panose="020F0502020204030203" pitchFamily="34" charset="0"/>
                <a:ea typeface="Lato" panose="020F0502020204030203" pitchFamily="34" charset="0"/>
                <a:cs typeface="Lato" panose="020F0502020204030203" pitchFamily="34" charset="0"/>
                <a:sym typeface="Consolas"/>
              </a:rPr>
              <a:t>ts.lower</a:t>
            </a:r>
            <a:r>
              <a:rPr lang="es-ES" sz="2000" b="1" i="1" dirty="0">
                <a:solidFill>
                  <a:srgbClr val="69FFCC"/>
                </a:solidFill>
                <a:latin typeface="Lato" panose="020F0502020204030203" pitchFamily="34" charset="0"/>
                <a:ea typeface="Lato" panose="020F0502020204030203" pitchFamily="34" charset="0"/>
                <a:cs typeface="Lato" panose="020F0502020204030203" pitchFamily="34" charset="0"/>
                <a:sym typeface="Consolas"/>
              </a:rPr>
              <a:t>(new </a:t>
            </a:r>
            <a:r>
              <a:rPr lang="es-ES" sz="2000" b="1" i="1" dirty="0" err="1">
                <a:solidFill>
                  <a:srgbClr val="69FFCC"/>
                </a:solidFill>
                <a:latin typeface="Lato" panose="020F0502020204030203" pitchFamily="34" charset="0"/>
                <a:ea typeface="Lato" panose="020F0502020204030203" pitchFamily="34" charset="0"/>
                <a:cs typeface="Lato" panose="020F0502020204030203" pitchFamily="34" charset="0"/>
                <a:sym typeface="Consolas"/>
              </a:rPr>
              <a:t>Integer</a:t>
            </a:r>
            <a:r>
              <a:rPr lang="es-ES" sz="2000" b="1" i="1" dirty="0">
                <a:solidFill>
                  <a:srgbClr val="69FFCC"/>
                </a:solidFill>
                <a:latin typeface="Lato" panose="020F0502020204030203" pitchFamily="34" charset="0"/>
                <a:ea typeface="Lato" panose="020F0502020204030203" pitchFamily="34" charset="0"/>
                <a:cs typeface="Lato" panose="020F0502020204030203" pitchFamily="34" charset="0"/>
                <a:sym typeface="Consolas"/>
              </a:rPr>
              <a:t> (5)); // 4 {1-10}</a:t>
            </a:r>
          </a:p>
          <a:p>
            <a:pPr marL="0" lvl="0" indent="0">
              <a:spcAft>
                <a:spcPts val="0"/>
              </a:spcAft>
              <a:buNone/>
            </a:pPr>
            <a:endPar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endParaRPr>
          </a:p>
          <a:p>
            <a:pPr marL="0" lvl="0" indent="0">
              <a:spcAft>
                <a:spcPts val="0"/>
              </a:spcAft>
              <a:buNone/>
            </a:pPr>
            <a:r>
              <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pollFirst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Elimina el primer elemento de la colección (el primero en orden, el más “chico”). Devuelve NULL si está vacía.</a:t>
            </a:r>
          </a:p>
          <a:p>
            <a:pPr marL="0" lvl="0" indent="0">
              <a:spcAft>
                <a:spcPts val="0"/>
              </a:spcAft>
              <a:buNone/>
            </a:pPr>
            <a:endPar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endParaRPr>
          </a:p>
          <a:p>
            <a:pPr lvl="0"/>
            <a:r>
              <a:rPr lang="es-419" sz="2000" b="1" dirty="0">
                <a:solidFill>
                  <a:srgbClr val="00B0F0"/>
                </a:solidFill>
                <a:latin typeface="Lato" panose="020F0502020204030203" pitchFamily="34" charset="0"/>
                <a:ea typeface="Lato" panose="020F0502020204030203" pitchFamily="34" charset="0"/>
                <a:cs typeface="Lato" panose="020F0502020204030203" pitchFamily="34" charset="0"/>
                <a:sym typeface="Lato"/>
              </a:rPr>
              <a:t>=&gt;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object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b="1" dirty="0" err="1">
                <a:solidFill>
                  <a:srgbClr val="FFFF00"/>
                </a:solidFill>
                <a:latin typeface="Lato" panose="020F0502020204030203" pitchFamily="34" charset="0"/>
                <a:ea typeface="Lato" panose="020F0502020204030203" pitchFamily="34" charset="0"/>
                <a:cs typeface="Lato" panose="020F0502020204030203" pitchFamily="34" charset="0"/>
              </a:rPr>
              <a:t>pollLast</a:t>
            </a:r>
            <a:r>
              <a:rPr lang="es-ES" sz="2000" b="1" dirty="0">
                <a:solidFill>
                  <a:srgbClr val="FFFF00"/>
                </a:solidFill>
                <a:latin typeface="Lato" panose="020F0502020204030203" pitchFamily="34" charset="0"/>
                <a:ea typeface="Lato" panose="020F0502020204030203" pitchFamily="34" charset="0"/>
                <a:cs typeface="Lato" panose="020F0502020204030203" pitchFamily="34" charset="0"/>
              </a:rPr>
              <a:t>(): </a:t>
            </a:r>
            <a:r>
              <a:rPr lang="es-ES" sz="2000" dirty="0">
                <a:solidFill>
                  <a:schemeClr val="bg1"/>
                </a:solidFill>
                <a:latin typeface="Lato" panose="020F0502020204030203" pitchFamily="34" charset="0"/>
                <a:ea typeface="Lato" panose="020F0502020204030203" pitchFamily="34" charset="0"/>
                <a:cs typeface="Lato" panose="020F0502020204030203" pitchFamily="34" charset="0"/>
              </a:rPr>
              <a:t>Elimina el último elemento de la colección (el último en orden, el más “grande”) Devuelve NULL si está vacía.</a:t>
            </a:r>
          </a:p>
        </p:txBody>
      </p:sp>
    </p:spTree>
    <p:extLst>
      <p:ext uri="{BB962C8B-B14F-4D97-AF65-F5344CB8AC3E}">
        <p14:creationId xmlns:p14="http://schemas.microsoft.com/office/powerpoint/2010/main" val="828801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386169" y="235628"/>
            <a:ext cx="2410819" cy="15234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800"/>
              </a:spcAft>
              <a:buNone/>
            </a:pPr>
            <a:r>
              <a:rPr lang="es-419" sz="2400" b="1" u="sng" dirty="0">
                <a:solidFill>
                  <a:srgbClr val="FFFF00"/>
                </a:solidFill>
                <a:latin typeface="Lato"/>
                <a:ea typeface="Lato"/>
                <a:cs typeface="Lato"/>
                <a:sym typeface="Lato"/>
              </a:rPr>
              <a:t>TreeSet: </a:t>
            </a:r>
          </a:p>
          <a:p>
            <a:pPr marL="0" lvl="0" indent="0" algn="l" rtl="0">
              <a:spcBef>
                <a:spcPts val="0"/>
              </a:spcBef>
              <a:buNone/>
            </a:pPr>
            <a:r>
              <a:rPr lang="es-419" sz="2400" b="1" dirty="0">
                <a:solidFill>
                  <a:srgbClr val="FFFF00"/>
                </a:solidFill>
                <a:latin typeface="Lato"/>
                <a:ea typeface="Lato"/>
                <a:cs typeface="Lato"/>
                <a:sym typeface="Lato"/>
              </a:rPr>
              <a:t>Ejemplo de implementación</a:t>
            </a:r>
            <a:endParaRPr sz="2400" b="1" dirty="0">
              <a:solidFill>
                <a:srgbClr val="FFFF00"/>
              </a:solidFill>
              <a:latin typeface="Lato"/>
              <a:ea typeface="Lato"/>
              <a:cs typeface="Lato"/>
              <a:sym typeface="Lato"/>
            </a:endParaRPr>
          </a:p>
        </p:txBody>
      </p:sp>
      <p:pic>
        <p:nvPicPr>
          <p:cNvPr id="2" name="Imagen 1">
            <a:extLst>
              <a:ext uri="{FF2B5EF4-FFF2-40B4-BE49-F238E27FC236}">
                <a16:creationId xmlns:a16="http://schemas.microsoft.com/office/drawing/2014/main" id="{E91532A3-DB24-8377-6B7F-56F48C21FCE1}"/>
              </a:ext>
            </a:extLst>
          </p:cNvPr>
          <p:cNvPicPr>
            <a:picLocks noChangeAspect="1"/>
          </p:cNvPicPr>
          <p:nvPr/>
        </p:nvPicPr>
        <p:blipFill>
          <a:blip r:embed="rId3"/>
          <a:stretch>
            <a:fillRect/>
          </a:stretch>
        </p:blipFill>
        <p:spPr>
          <a:xfrm>
            <a:off x="2927738" y="76215"/>
            <a:ext cx="6216262" cy="5067285"/>
          </a:xfrm>
          <a:prstGeom prst="rect">
            <a:avLst/>
          </a:prstGeom>
        </p:spPr>
      </p:pic>
    </p:spTree>
    <p:extLst>
      <p:ext uri="{BB962C8B-B14F-4D97-AF65-F5344CB8AC3E}">
        <p14:creationId xmlns:p14="http://schemas.microsoft.com/office/powerpoint/2010/main" val="120928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905435" y="96683"/>
            <a:ext cx="7204977"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800" b="1" u="sng" dirty="0">
                <a:solidFill>
                  <a:srgbClr val="FF6F0D"/>
                </a:solidFill>
                <a:latin typeface="Lato"/>
                <a:ea typeface="Lato"/>
                <a:cs typeface="Lato"/>
                <a:sym typeface="Lato"/>
              </a:rPr>
              <a:t>RESUMEN DE COLECCIONES SET:</a:t>
            </a:r>
            <a:endParaRPr sz="2800" b="1" u="sng" dirty="0">
              <a:solidFill>
                <a:srgbClr val="FF6F0D"/>
              </a:solidFill>
              <a:latin typeface="Lato"/>
              <a:ea typeface="Lato"/>
              <a:cs typeface="Lato"/>
              <a:sym typeface="Lato"/>
            </a:endParaRPr>
          </a:p>
        </p:txBody>
      </p:sp>
      <p:pic>
        <p:nvPicPr>
          <p:cNvPr id="4" name="Imagen 3">
            <a:extLst>
              <a:ext uri="{FF2B5EF4-FFF2-40B4-BE49-F238E27FC236}">
                <a16:creationId xmlns:a16="http://schemas.microsoft.com/office/drawing/2014/main" id="{2B97BFEB-EF4A-30D5-3FFB-7D22623AF0A7}"/>
              </a:ext>
            </a:extLst>
          </p:cNvPr>
          <p:cNvPicPr>
            <a:picLocks noChangeAspect="1"/>
          </p:cNvPicPr>
          <p:nvPr/>
        </p:nvPicPr>
        <p:blipFill>
          <a:blip r:embed="rId3"/>
          <a:stretch>
            <a:fillRect/>
          </a:stretch>
        </p:blipFill>
        <p:spPr>
          <a:xfrm>
            <a:off x="905435" y="788894"/>
            <a:ext cx="7204977" cy="4257923"/>
          </a:xfrm>
          <a:prstGeom prst="rect">
            <a:avLst/>
          </a:prstGeom>
        </p:spPr>
      </p:pic>
    </p:spTree>
    <p:extLst>
      <p:ext uri="{BB962C8B-B14F-4D97-AF65-F5344CB8AC3E}">
        <p14:creationId xmlns:p14="http://schemas.microsoft.com/office/powerpoint/2010/main" val="292153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p:nvPr/>
        </p:nvSpPr>
        <p:spPr>
          <a:xfrm>
            <a:off x="366888" y="188591"/>
            <a:ext cx="8410221" cy="92329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400" b="1" u="sng" dirty="0">
                <a:solidFill>
                  <a:srgbClr val="F4860C"/>
                </a:solidFill>
                <a:latin typeface="Lato"/>
                <a:ea typeface="Lato"/>
                <a:cs typeface="Lato"/>
                <a:sym typeface="Lato"/>
              </a:rPr>
              <a:t>RESUMEN COMPARATIVO DE LAS </a:t>
            </a:r>
          </a:p>
          <a:p>
            <a:pPr marL="0" lvl="0" indent="0" algn="ctr" rtl="0">
              <a:spcBef>
                <a:spcPts val="0"/>
              </a:spcBef>
              <a:spcAft>
                <a:spcPts val="0"/>
              </a:spcAft>
              <a:buNone/>
            </a:pPr>
            <a:r>
              <a:rPr lang="es-419" sz="2400" b="1" u="sng" dirty="0">
                <a:solidFill>
                  <a:srgbClr val="F4860C"/>
                </a:solidFill>
                <a:latin typeface="Lato"/>
                <a:ea typeface="Lato"/>
                <a:cs typeface="Lato"/>
                <a:sym typeface="Lato"/>
              </a:rPr>
              <a:t>PRINCIPALES </a:t>
            </a:r>
            <a:r>
              <a:rPr lang="es-419" sz="2400" b="1" u="sng">
                <a:solidFill>
                  <a:srgbClr val="F4860C"/>
                </a:solidFill>
                <a:latin typeface="Lato"/>
                <a:ea typeface="Lato"/>
                <a:cs typeface="Lato"/>
                <a:sym typeface="Lato"/>
              </a:rPr>
              <a:t>COLECCIONES SET Y LIST:</a:t>
            </a:r>
            <a:endParaRPr lang="es-419" sz="2400" b="1" u="sng" dirty="0">
              <a:solidFill>
                <a:srgbClr val="F4860C"/>
              </a:solidFill>
              <a:latin typeface="Lato"/>
              <a:ea typeface="Lato"/>
              <a:cs typeface="Lato"/>
              <a:sym typeface="Lato"/>
            </a:endParaRPr>
          </a:p>
        </p:txBody>
      </p:sp>
      <p:pic>
        <p:nvPicPr>
          <p:cNvPr id="4" name="Imagen 3">
            <a:extLst>
              <a:ext uri="{FF2B5EF4-FFF2-40B4-BE49-F238E27FC236}">
                <a16:creationId xmlns:a16="http://schemas.microsoft.com/office/drawing/2014/main" id="{6D597B72-D22C-2317-0583-A9A11F9AD207}"/>
              </a:ext>
            </a:extLst>
          </p:cNvPr>
          <p:cNvPicPr>
            <a:picLocks noChangeAspect="1"/>
          </p:cNvPicPr>
          <p:nvPr/>
        </p:nvPicPr>
        <p:blipFill>
          <a:blip r:embed="rId3"/>
          <a:stretch>
            <a:fillRect/>
          </a:stretch>
        </p:blipFill>
        <p:spPr>
          <a:xfrm>
            <a:off x="91077" y="1238602"/>
            <a:ext cx="8961845" cy="3389842"/>
          </a:xfrm>
          <a:prstGeom prst="rect">
            <a:avLst/>
          </a:prstGeom>
        </p:spPr>
      </p:pic>
    </p:spTree>
    <p:extLst>
      <p:ext uri="{BB962C8B-B14F-4D97-AF65-F5344CB8AC3E}">
        <p14:creationId xmlns:p14="http://schemas.microsoft.com/office/powerpoint/2010/main" val="2544776558"/>
      </p:ext>
    </p:extLst>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1792</TotalTime>
  <Words>1331</Words>
  <Application>Microsoft Macintosh PowerPoint</Application>
  <PresentationFormat>Presentación en pantalla (16:9)</PresentationFormat>
  <Paragraphs>101</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Lato</vt:lpstr>
      <vt:lpstr>Montserrat</vt:lpstr>
      <vt:lpstr>Arial</vt:lpstr>
      <vt:lpstr>Focus</vt:lpstr>
      <vt:lpstr>Programación II Desarrollo en Java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Carolina Archuby</dc:creator>
  <cp:lastModifiedBy>ARCHUBY LAURA CAROLINA</cp:lastModifiedBy>
  <cp:revision>72</cp:revision>
  <dcterms:modified xsi:type="dcterms:W3CDTF">2025-09-25T18:14:16Z</dcterms:modified>
</cp:coreProperties>
</file>